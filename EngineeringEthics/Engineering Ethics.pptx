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95" r:id="rId4"/>
    <p:sldId id="284" r:id="rId5"/>
    <p:sldId id="285" r:id="rId6"/>
    <p:sldId id="294" r:id="rId7"/>
    <p:sldId id="287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A938F-6A7C-19F2-2983-CD7CCC098035}" v="2" dt="2026-02-13T18:27:43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6" autoAdjust="0"/>
  </p:normalViewPr>
  <p:slideViewPr>
    <p:cSldViewPr snapToGrid="0">
      <p:cViewPr varScale="1">
        <p:scale>
          <a:sx n="97" d="100"/>
          <a:sy n="97" d="100"/>
        </p:scale>
        <p:origin x="107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o, Ruoxing" userId="S::rgao@trincoll.edu::d0027fdb-b610-44d5-9cb8-875d3eec3047" providerId="AD" clId="Web-{5DFA938F-6A7C-19F2-2983-CD7CCC098035}"/>
    <pc:docChg chg="modSld">
      <pc:chgData name="Gao, Ruoxing" userId="S::rgao@trincoll.edu::d0027fdb-b610-44d5-9cb8-875d3eec3047" providerId="AD" clId="Web-{5DFA938F-6A7C-19F2-2983-CD7CCC098035}" dt="2026-02-13T18:27:43.657" v="1" actId="14100"/>
      <pc:docMkLst>
        <pc:docMk/>
      </pc:docMkLst>
      <pc:sldChg chg="delSp modSp delAnim">
        <pc:chgData name="Gao, Ruoxing" userId="S::rgao@trincoll.edu::d0027fdb-b610-44d5-9cb8-875d3eec3047" providerId="AD" clId="Web-{5DFA938F-6A7C-19F2-2983-CD7CCC098035}" dt="2026-02-13T18:27:43.657" v="1" actId="14100"/>
        <pc:sldMkLst>
          <pc:docMk/>
          <pc:sldMk cId="2884431640" sldId="295"/>
        </pc:sldMkLst>
        <pc:spChg chg="mod">
          <ac:chgData name="Gao, Ruoxing" userId="S::rgao@trincoll.edu::d0027fdb-b610-44d5-9cb8-875d3eec3047" providerId="AD" clId="Web-{5DFA938F-6A7C-19F2-2983-CD7CCC098035}" dt="2026-02-13T18:27:43.657" v="1" actId="14100"/>
          <ac:spMkLst>
            <pc:docMk/>
            <pc:sldMk cId="2884431640" sldId="295"/>
            <ac:spMk id="4" creationId="{58DA7A78-F500-45EB-02E4-C23251AB5385}"/>
          </ac:spMkLst>
        </pc:spChg>
        <pc:spChg chg="del">
          <ac:chgData name="Gao, Ruoxing" userId="S::rgao@trincoll.edu::d0027fdb-b610-44d5-9cb8-875d3eec3047" providerId="AD" clId="Web-{5DFA938F-6A7C-19F2-2983-CD7CCC098035}" dt="2026-02-13T18:27:41.204" v="0"/>
          <ac:spMkLst>
            <pc:docMk/>
            <pc:sldMk cId="2884431640" sldId="295"/>
            <ac:spMk id="8" creationId="{F52AECC9-970A-21A2-A8D2-BD4C7FDD94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B81A3-933E-4889-B48F-DC20B232853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CE1A-E05C-4761-8C9B-8B20439BD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1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CE1A-E05C-4761-8C9B-8B20439BD1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3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02A7E-95EB-7B6F-9ECC-BC735A30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D85EA-3DF1-83F4-8F90-E0D6A82E0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05588-FC3C-EC60-8799-B458888D2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93125-199D-8409-1D39-118E55700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CE1A-E05C-4761-8C9B-8B20439BD1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65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CE1A-E05C-4761-8C9B-8B20439BD1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8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1CE1A-E05C-4761-8C9B-8B20439BD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F97D-B496-405B-A2F9-9B8C192BC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CBF83-6AE4-44AB-95AA-355532328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084A1-E840-43F5-A88F-C7953E36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EDAA5-69C7-4EF9-9FF4-71529A4C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5972A-8D7B-43D7-8060-D99ED42C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2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7AD0-8896-4ED0-9624-D347CF85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EDDB2-43F0-4CCD-8D05-4E67F84C4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CF4E-0D57-41B9-A663-C1EFC169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DA7A8-37C5-482B-8BB6-F2C85CE5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D6BBC-D537-4977-A260-ABAC493C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3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6070-9EEC-47A3-AA5B-E5235227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EFCD6-E2B2-4BBE-B03C-54F8C9A97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5E3C6-4E4C-4688-929E-6F282726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8908F-490C-49F4-B195-EBBC636D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23057-DA6E-44E3-B80A-448BC2F3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52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F0DD-C548-400A-9245-7E0AAD6E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6E5B-D451-451D-81B0-485C79F31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70C8-466F-42D8-9DB7-0A29E0B50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1DDE9-E9D1-456E-9353-49EB502E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86D11-2110-4B66-A4B7-5CD83A50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D2188-AD96-4077-B00D-57A49848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89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4621-691A-4994-88E4-B447087C4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C03-6704-43EC-A783-1B3603D2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D4A96-AD05-48DE-8695-E69B08582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E8176-1B07-465F-833B-B5731DEFA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10828-DC03-41A2-A3B1-8511D1A38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8C6F2-66B9-42BD-BBAD-5E41E8E8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5D06D-EDFF-4DAF-BA51-D5F0F559D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FBDB2-EFFB-40D1-AE4E-E98FA870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4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705F-DC09-4587-851F-E7C76A13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72233-3245-47D0-BD01-AC624B68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E7C7D-EC6D-491D-B457-F91F0228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5917F-84A7-4D43-B1C8-9CBEA312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7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BA7E8-1BC9-4F4F-8BBB-DCD55D1F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832A9B-4A05-4941-AD03-F6FDEB81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F944B-00EE-417F-81BE-5E52C365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6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79F6-F96F-498E-AD11-43BCDB3D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C283-63CF-4E32-A3AE-C59BC1C3B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6CB3E-3B11-46E3-8BD5-94560FECE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0FF75-4E53-4F97-B968-690B520E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938A1-05FB-4752-8320-B8DCE30C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B9A7-79EF-4CA5-997B-24F27BF4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12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69D4-45B7-4E1F-AEE9-FBC0D5B3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939D4-F32A-476B-9E48-D324B7DAF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01D79-B614-4F20-BF45-4BA6A6E91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8DF5F-7457-4F43-8815-200B5F60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CD708-8D30-44B0-B419-22D9E5E9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DC2FB-5E12-42EF-B044-CF9CC3E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43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9CCA-5816-4808-AC87-C2550A6E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F99CC-C495-4F78-BE6D-89B599896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56F1A-1872-4777-8E0E-1F9917FA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F5E18-55AA-4271-B47C-13BBBB56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72FE6-0FD6-4BD1-8FF3-2BFCE034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2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AB165-42D8-4643-8BEF-DA35E7D25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4EF91-45CD-4EDB-91AE-21E245739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6D8C-CE2F-438C-847C-8092E876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94402-AEB1-4DC0-B10A-4DE0A054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94C83-9CD1-425F-8E2A-C87A7113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5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938FD-D906-4200-99BC-A5D08336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A8908-C455-4F3A-B185-90BE9384B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BF5D4-224A-4A38-8150-6CA82A96F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16F40-73B7-4D37-8D53-10A6621E82B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FC723-EEB2-4A0C-881B-B36830625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4A4A-CB06-43ED-800F-AAF4D15AB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9A93-B4CB-4C4C-9D2F-4F81F9E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7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34F800-7AA1-4A39-B793-11BB5FE04013}"/>
              </a:ext>
            </a:extLst>
          </p:cNvPr>
          <p:cNvSpPr/>
          <p:nvPr/>
        </p:nvSpPr>
        <p:spPr>
          <a:xfrm>
            <a:off x="0" y="0"/>
            <a:ext cx="12192000" cy="5895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762E3-7D7B-4A9F-802F-C87FA385B792}"/>
              </a:ext>
            </a:extLst>
          </p:cNvPr>
          <p:cNvSpPr txBox="1"/>
          <p:nvPr/>
        </p:nvSpPr>
        <p:spPr>
          <a:xfrm>
            <a:off x="1387316" y="1378785"/>
            <a:ext cx="9417368" cy="204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Ethics</a:t>
            </a:r>
          </a:p>
          <a:p>
            <a:pPr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Professionalism, Codes of Ethics, Ethical Problem Solving, and Case Studies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EAFB4-238B-43DA-B88D-58D81C2C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78" y="6111861"/>
            <a:ext cx="3264068" cy="5397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40AE84-11EA-4F58-8F6A-4D10B68FE7F3}"/>
              </a:ext>
            </a:extLst>
          </p:cNvPr>
          <p:cNvSpPr/>
          <p:nvPr/>
        </p:nvSpPr>
        <p:spPr>
          <a:xfrm>
            <a:off x="3924300" y="6111861"/>
            <a:ext cx="8267700" cy="53977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E91CDE-55C8-4D09-A2ED-E7D5D512F358}"/>
              </a:ext>
            </a:extLst>
          </p:cNvPr>
          <p:cNvSpPr txBox="1"/>
          <p:nvPr/>
        </p:nvSpPr>
        <p:spPr>
          <a:xfrm>
            <a:off x="4133850" y="6181695"/>
            <a:ext cx="2924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 Ruoxing Gao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21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D7CCA-0291-48ED-5A42-B132C508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CA338-9208-13DF-2CAF-022C42D60C61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52AA5-3EEE-9D6E-882C-03133ACCDC74}"/>
              </a:ext>
            </a:extLst>
          </p:cNvPr>
          <p:cNvSpPr txBox="1"/>
          <p:nvPr/>
        </p:nvSpPr>
        <p:spPr>
          <a:xfrm>
            <a:off x="561974" y="333375"/>
            <a:ext cx="916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Ethics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4C67E-7563-1B21-3C26-423F9C1BF9C6}"/>
              </a:ext>
            </a:extLst>
          </p:cNvPr>
          <p:cNvSpPr txBox="1"/>
          <p:nvPr/>
        </p:nvSpPr>
        <p:spPr>
          <a:xfrm>
            <a:off x="561974" y="1227843"/>
            <a:ext cx="10705794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Engineers interact with the world and can affect it greatly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Ethical behavior is very personal, and will drive your decision making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 addition to technical problem solving, you have ethical problems too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Ethics and the Law do not always align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Have to balance the two in our work (and life)!</a:t>
            </a:r>
          </a:p>
        </p:txBody>
      </p:sp>
    </p:spTree>
    <p:extLst>
      <p:ext uri="{BB962C8B-B14F-4D97-AF65-F5344CB8AC3E}">
        <p14:creationId xmlns:p14="http://schemas.microsoft.com/office/powerpoint/2010/main" val="55970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64EA-F5FD-957F-D9FC-4EEE01AC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25FFA0-1586-83CF-5FF7-EA29A153A576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F3CD62-AFB5-FFA2-7FD6-481BDBFE8409}"/>
              </a:ext>
            </a:extLst>
          </p:cNvPr>
          <p:cNvSpPr txBox="1"/>
          <p:nvPr/>
        </p:nvSpPr>
        <p:spPr>
          <a:xfrm>
            <a:off x="561974" y="333375"/>
            <a:ext cx="916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engineering a Profession?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A7A78-F500-45EB-02E4-C23251AB5385}"/>
              </a:ext>
            </a:extLst>
          </p:cNvPr>
          <p:cNvSpPr txBox="1"/>
          <p:nvPr/>
        </p:nvSpPr>
        <p:spPr>
          <a:xfrm>
            <a:off x="561974" y="1227843"/>
            <a:ext cx="10520402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 occupation is a profession if it includes [1]: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Skilled, sophisticated work that requires judgement &amp; discretion (not automated)</a:t>
            </a: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There is an established formal education before membership</a:t>
            </a: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Specialized societies controlled by members who set &amp; enforce standards</a:t>
            </a: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Significant public good results from the profession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i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62BB4-55B0-A26F-6B4D-5A95680DB346}"/>
              </a:ext>
            </a:extLst>
          </p:cNvPr>
          <p:cNvSpPr txBox="1"/>
          <p:nvPr/>
        </p:nvSpPr>
        <p:spPr>
          <a:xfrm>
            <a:off x="6685937" y="6154475"/>
            <a:ext cx="5270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1: “Engineering Ethics 4e.,” C.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Fleddermann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Prentice Hall 2012</a:t>
            </a:r>
          </a:p>
        </p:txBody>
      </p:sp>
    </p:spTree>
    <p:extLst>
      <p:ext uri="{BB962C8B-B14F-4D97-AF65-F5344CB8AC3E}">
        <p14:creationId xmlns:p14="http://schemas.microsoft.com/office/powerpoint/2010/main" val="288443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B48D-A71E-209F-7F44-7B92AFDC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6FC9ED-83A0-4512-8283-BEE944CC2CBD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42A57-FF29-692B-4A33-54DCC538082C}"/>
              </a:ext>
            </a:extLst>
          </p:cNvPr>
          <p:cNvSpPr txBox="1"/>
          <p:nvPr/>
        </p:nvSpPr>
        <p:spPr>
          <a:xfrm>
            <a:off x="561975" y="333375"/>
            <a:ext cx="6991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Standards: Code of Ethics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9E686-B254-518D-59CC-39F97A63A043}"/>
              </a:ext>
            </a:extLst>
          </p:cNvPr>
          <p:cNvSpPr txBox="1"/>
          <p:nvPr/>
        </p:nvSpPr>
        <p:spPr>
          <a:xfrm>
            <a:off x="561974" y="1227843"/>
            <a:ext cx="10135523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All professional societies adopt a Code of Ethics</a:t>
            </a: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Also a part of colleges/universities, companies, etc.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Goal: provide a framework for ethical judgement as a professional</a:t>
            </a: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Cannot be comprehensive or cover everything</a:t>
            </a: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Does not establish new ethical principles</a:t>
            </a: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a recipe for ethical behavior</a:t>
            </a: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a substitute for sound judgement</a:t>
            </a: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a legal document</a:t>
            </a:r>
          </a:p>
          <a:p>
            <a:pPr marL="274320"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56E1E-29AD-142A-D295-4EC11FB48CAA}"/>
              </a:ext>
            </a:extLst>
          </p:cNvPr>
          <p:cNvSpPr txBox="1"/>
          <p:nvPr/>
        </p:nvSpPr>
        <p:spPr>
          <a:xfrm>
            <a:off x="1807816" y="5306991"/>
            <a:ext cx="8815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code helps the engineer to apply moral principles to the unique situations encountered in professional practice!</a:t>
            </a:r>
          </a:p>
        </p:txBody>
      </p:sp>
    </p:spTree>
    <p:extLst>
      <p:ext uri="{BB962C8B-B14F-4D97-AF65-F5344CB8AC3E}">
        <p14:creationId xmlns:p14="http://schemas.microsoft.com/office/powerpoint/2010/main" val="136383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644A-A21A-4C9C-BB1E-D050AE02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D67401-29F4-6D27-66DE-42871741A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4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2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8273E-B855-DA6F-BA90-501BE079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D9B8CB-35D1-46DD-377C-313257BED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993" y="0"/>
            <a:ext cx="6196013" cy="688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C8D4-8CFD-D634-91BF-46EB9CBB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F24459-599B-2C04-6C1E-28B87DD6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800" y="0"/>
            <a:ext cx="8248399" cy="688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49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1F57-ECE4-88D9-9D03-3256919C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27B84C-5048-EA43-875F-1722AAC48A8D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AEC12-770C-0E3A-45DB-56B42F81502C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Problem Solving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E8748-FE24-10D7-AC7E-9BB57449C49A}"/>
              </a:ext>
            </a:extLst>
          </p:cNvPr>
          <p:cNvSpPr txBox="1"/>
          <p:nvPr/>
        </p:nvSpPr>
        <p:spPr>
          <a:xfrm>
            <a:off x="561973" y="1227843"/>
            <a:ext cx="9919214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Ethics and engineering ranges all levels of complexity: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Should you embezzle money from the company?</a:t>
            </a:r>
          </a:p>
          <a:p>
            <a:pPr marL="274320"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Should you overcharge customers and inflate contract prices?</a:t>
            </a:r>
          </a:p>
          <a:p>
            <a:pPr marL="274320"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Should you lobby for a contract and bid on a project without deep expertise?</a:t>
            </a:r>
          </a:p>
          <a:p>
            <a:pPr marL="274320"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3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C4DF-3720-66C7-65D8-3872F1F6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3A3D53-0B1C-1131-8E2F-8FFCC1144A07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1CDC1F-8702-40E8-8188-A7DAB967FA5F}"/>
                  </a:ext>
                </a:extLst>
              </p:cNvPr>
              <p:cNvSpPr txBox="1"/>
              <p:nvPr/>
            </p:nvSpPr>
            <p:spPr>
              <a:xfrm>
                <a:off x="561973" y="1227843"/>
                <a:ext cx="9919214" cy="2949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Start with facts:</a:t>
                </a:r>
              </a:p>
              <a:p>
                <a:pPr marL="54864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greenhouse gas and contributes to global warming</a:t>
                </a:r>
              </a:p>
              <a:p>
                <a:pPr marL="54864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Industrial plants, power production, and transportation emits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62890">
                  <a:lnSpc>
                    <a:spcPct val="150000"/>
                  </a:lnSpc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Engineer’s dilemma: </a:t>
                </a:r>
              </a:p>
              <a:p>
                <a:pPr marL="54864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How do you design a product with these facts in mind? </a:t>
                </a:r>
              </a:p>
              <a:p>
                <a:pPr marL="548640" indent="-28575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if the customer base doesn’t agree with your approach?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1CDC1F-8702-40E8-8188-A7DAB967F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3" y="1227843"/>
                <a:ext cx="9919214" cy="2949525"/>
              </a:xfrm>
              <a:prstGeom prst="rect">
                <a:avLst/>
              </a:prstGeom>
              <a:blipFill>
                <a:blip r:embed="rId2"/>
                <a:stretch>
                  <a:fillRect l="-369" b="-2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37F4407-ED0D-7C22-2488-272B702D2B10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Problem Solving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998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8A53-7209-345E-18A9-08311AA2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852261-2A51-4D23-F35F-E4F5B503EBAC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C1D8D-520D-4FD4-AB38-34A5D16BFF47}"/>
              </a:ext>
            </a:extLst>
          </p:cNvPr>
          <p:cNvSpPr txBox="1"/>
          <p:nvPr/>
        </p:nvSpPr>
        <p:spPr>
          <a:xfrm>
            <a:off x="561973" y="1227843"/>
            <a:ext cx="10342001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Consider the conceptual issues:</a:t>
            </a: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Is something a gift or a bribe?</a:t>
            </a: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Is an after-work meeting considered “between friends” or “inappropriate behavior?”</a:t>
            </a:r>
          </a:p>
          <a:p>
            <a:pPr marL="54864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Which of two morally “correct” choices should you go with?</a:t>
            </a:r>
          </a:p>
          <a:p>
            <a:pPr marL="548640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Trolley car problem – posed two ways, people cannot choose!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BB8A9-223E-D32B-F449-DD036CD3B3FF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Problem Solving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CD5D-7A66-5302-BCAA-40AF3778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FC345-3F03-06BE-718C-644CA87B1796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81F0F-5A66-22FF-6E4D-02310A62F505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Data Analysis – Case 1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42283E1-87C7-9256-8BC6-483873049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52894" y="1434889"/>
            <a:ext cx="4441028" cy="460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7E8BE5-3E3D-6F1A-3EFC-4F1853BA8D73}"/>
              </a:ext>
            </a:extLst>
          </p:cNvPr>
          <p:cNvSpPr txBox="1">
            <a:spLocks/>
          </p:cNvSpPr>
          <p:nvPr/>
        </p:nvSpPr>
        <p:spPr>
          <a:xfrm>
            <a:off x="793956" y="1584960"/>
            <a:ext cx="3306742" cy="14237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Growth of welfare payments appears to have tripled in less than 3 years!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6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B7C6-EC1C-542D-481B-9CA99BD3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01CB61-15AF-8A54-49D3-55FE2409B4E1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12F9E-D64D-EC0D-236C-1A7E393E1C62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Data Analysis – Case 2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D014F2-9F9C-5441-F0BC-78C63B32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003" y="1820186"/>
            <a:ext cx="6127287" cy="2971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4C912D-5CD2-D851-CD8F-F42B5194EA1E}"/>
              </a:ext>
            </a:extLst>
          </p:cNvPr>
          <p:cNvSpPr txBox="1"/>
          <p:nvPr/>
        </p:nvSpPr>
        <p:spPr>
          <a:xfrm>
            <a:off x="948813" y="2018521"/>
            <a:ext cx="2767781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rise in average monthly temperature is out of control!</a:t>
            </a:r>
          </a:p>
        </p:txBody>
      </p:sp>
    </p:spTree>
    <p:extLst>
      <p:ext uri="{BB962C8B-B14F-4D97-AF65-F5344CB8AC3E}">
        <p14:creationId xmlns:p14="http://schemas.microsoft.com/office/powerpoint/2010/main" val="964856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9D2B-F405-FF71-68B7-C944B844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DA152A-3345-64FF-6875-6C3B19BDBC09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4CA50-9B3D-1485-299F-A5E8DE415687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Data Analysis – Case 3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AE15F-EB0D-2D1B-74D5-2FA530881472}"/>
              </a:ext>
            </a:extLst>
          </p:cNvPr>
          <p:cNvSpPr txBox="1"/>
          <p:nvPr/>
        </p:nvSpPr>
        <p:spPr>
          <a:xfrm>
            <a:off x="948813" y="2018521"/>
            <a:ext cx="2767781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just isn’t worth going to college anymore!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C99A6-07A8-3C86-BFDC-7749DCC96D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6" b="1"/>
          <a:stretch/>
        </p:blipFill>
        <p:spPr bwMode="auto">
          <a:xfrm>
            <a:off x="4955339" y="1336566"/>
            <a:ext cx="6127287" cy="460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53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BBBE-00F5-1C1D-66B9-6F6FCF2E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90DE98-2F9B-40D6-2C34-B3B7B47DA337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249A6-6007-CEAE-2DD1-17DE5CA832D8}"/>
              </a:ext>
            </a:extLst>
          </p:cNvPr>
          <p:cNvSpPr txBox="1"/>
          <p:nvPr/>
        </p:nvSpPr>
        <p:spPr>
          <a:xfrm>
            <a:off x="948813" y="2018521"/>
            <a:ext cx="2767781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appears that our system has a very sharp cutoff around 10 kHz.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25976-95F1-6A5B-8FB6-F40C75807B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5707"/>
          <a:stretch/>
        </p:blipFill>
        <p:spPr>
          <a:xfrm>
            <a:off x="4955339" y="1336566"/>
            <a:ext cx="6127287" cy="4607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25044-81FC-0392-34F6-D20DCBB6A7AB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Data Analysis – Case 4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321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0BB3-7EB4-482B-DAA4-ABD575C2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B4C049-B9CA-BEC9-7583-0D07110220D3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32AAF-A6C3-0CA7-F870-8904EACCE141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Preparing for Initial Presentations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F74AA-CE6D-319A-5DD2-7F5717F05D2A}"/>
              </a:ext>
            </a:extLst>
          </p:cNvPr>
          <p:cNvSpPr txBox="1"/>
          <p:nvPr/>
        </p:nvSpPr>
        <p:spPr>
          <a:xfrm>
            <a:off x="561974" y="1628791"/>
            <a:ext cx="6916993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 a 10-minute presentation on a topic of your choice: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address a technical topic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address some aspect of ethics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tie into some of our initial discussions/topics of lab</a:t>
            </a:r>
          </a:p>
        </p:txBody>
      </p:sp>
    </p:spTree>
    <p:extLst>
      <p:ext uri="{BB962C8B-B14F-4D97-AF65-F5344CB8AC3E}">
        <p14:creationId xmlns:p14="http://schemas.microsoft.com/office/powerpoint/2010/main" val="1561658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B281-08D3-B689-09BA-EEE2264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1CDFE-113A-7A78-97AC-E41E72C709CF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AC87C-3D87-AE13-B330-288D7BEFDFAB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Ideas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24985-438A-3563-9704-B5BB970DABAE}"/>
              </a:ext>
            </a:extLst>
          </p:cNvPr>
          <p:cNvSpPr txBox="1"/>
          <p:nvPr/>
        </p:nvSpPr>
        <p:spPr>
          <a:xfrm>
            <a:off x="561974" y="1248430"/>
            <a:ext cx="11708684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Needs to be technical in nature – address engineering, mathematics, physics, etc.</a:t>
            </a:r>
          </a:p>
          <a:p>
            <a:pPr marL="548640" indent="-285750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Hobbies</a:t>
            </a:r>
          </a:p>
          <a:p>
            <a:pPr marL="54864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Sports and the science behind it</a:t>
            </a:r>
          </a:p>
          <a:p>
            <a:pPr marL="54864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Music and sound, whether listening or creating</a:t>
            </a:r>
          </a:p>
          <a:p>
            <a:pPr marL="54864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Games, video or board, and their operation, construction, manufacturing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Items or ideas that address specific needs in your life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That one thing you are obsessed with and want to share with everyone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 watched how it’s made? Look at the complexity of the world around you!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Tie in ethics! </a:t>
            </a:r>
          </a:p>
          <a:p>
            <a:pPr marL="548640" indent="-285750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a spot where issues or dilemmas can arise</a:t>
            </a:r>
          </a:p>
          <a:p>
            <a:pPr marL="548640" indent="-285750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use data in the correct way? </a:t>
            </a:r>
          </a:p>
          <a:p>
            <a:pPr marL="548640" indent="-285750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can we draw the wrong conclusions from the data?</a:t>
            </a:r>
          </a:p>
          <a:p>
            <a:pPr marL="548640" indent="-285750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fact is correct, but the interpretation is wrong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583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0E5C-84FA-DF69-179B-F3A49882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DDFEC5-19DC-B764-1ED6-95FC03BBCF0A}"/>
              </a:ext>
            </a:extLst>
          </p:cNvPr>
          <p:cNvSpPr/>
          <p:nvPr/>
        </p:nvSpPr>
        <p:spPr>
          <a:xfrm>
            <a:off x="0" y="962025"/>
            <a:ext cx="12192000" cy="1809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6A83B-A06F-DE5A-04D2-97CDEA148132}"/>
              </a:ext>
            </a:extLst>
          </p:cNvPr>
          <p:cNvSpPr txBox="1"/>
          <p:nvPr/>
        </p:nvSpPr>
        <p:spPr>
          <a:xfrm>
            <a:off x="561974" y="333375"/>
            <a:ext cx="10804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Makes an Effective Talk?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02C6B-86CC-7A5A-BEC6-4160ABD93158}"/>
              </a:ext>
            </a:extLst>
          </p:cNvPr>
          <p:cNvSpPr txBox="1"/>
          <p:nvPr/>
        </p:nvSpPr>
        <p:spPr>
          <a:xfrm>
            <a:off x="561974" y="1248430"/>
            <a:ext cx="11708684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your voice as a tool to enhance presentation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aware of your non-verbal communication 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Prepare for your audience! </a:t>
            </a:r>
          </a:p>
          <a:p>
            <a:pPr marL="27432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Formal setting: be professionally dressed and well-rehearsed in your message</a:t>
            </a:r>
          </a:p>
          <a:p>
            <a:pPr marL="27432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Reflect on non-verbal communication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your visual aids appropriately: </a:t>
            </a:r>
          </a:p>
          <a:p>
            <a:pPr marL="27432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Images, graphs, and charts convey information…</a:t>
            </a:r>
          </a:p>
          <a:p>
            <a:pPr marL="27432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…but usually cannot stand on their own</a:t>
            </a:r>
          </a:p>
          <a:p>
            <a:pPr marL="27432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not overcomplicate your slides with excess information – explain!</a:t>
            </a:r>
          </a:p>
          <a:p>
            <a:pPr marL="27432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into detail beyond what is on the slides</a:t>
            </a:r>
          </a:p>
          <a:p>
            <a:pPr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8B3C6-1CDE-4AA7-4BA0-5B2D8240DCA8}"/>
              </a:ext>
            </a:extLst>
          </p:cNvPr>
          <p:cNvSpPr txBox="1"/>
          <p:nvPr/>
        </p:nvSpPr>
        <p:spPr>
          <a:xfrm>
            <a:off x="4672781" y="5536783"/>
            <a:ext cx="6693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Stay focused on the topic at hand: rehearse your material and know what the point of the presentation is!</a:t>
            </a:r>
          </a:p>
        </p:txBody>
      </p:sp>
    </p:spTree>
    <p:extLst>
      <p:ext uri="{BB962C8B-B14F-4D97-AF65-F5344CB8AC3E}">
        <p14:creationId xmlns:p14="http://schemas.microsoft.com/office/powerpoint/2010/main" val="102090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750</Words>
  <Application>Microsoft Office PowerPoint</Application>
  <PresentationFormat>Widescreen</PresentationFormat>
  <Paragraphs>108</Paragraphs>
  <Slides>17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Ruoxing Gao</dc:creator>
  <cp:lastModifiedBy>Gao, Ruoxing</cp:lastModifiedBy>
  <cp:revision>109</cp:revision>
  <dcterms:created xsi:type="dcterms:W3CDTF">2025-09-03T02:53:16Z</dcterms:created>
  <dcterms:modified xsi:type="dcterms:W3CDTF">2026-02-13T18:27:51Z</dcterms:modified>
</cp:coreProperties>
</file>