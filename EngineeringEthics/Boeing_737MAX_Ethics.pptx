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18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F4A300"/>
          </a:solidFill>
          <a:ln w="12700">
            <a:solidFill>
              <a:srgbClr val="F4A300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640080"/>
            <a:ext cx="64008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1417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 · ENGINEERING ETHICS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731520" y="178308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Boeing 737 MAX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731520" y="278892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hidden flight-control system, certification shortcuts, and a culture of cost pressure led to 346 deaths.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731520" y="3703320"/>
            <a:ext cx="1097280" cy="36576"/>
          </a:xfrm>
          <a:prstGeom prst="rect">
            <a:avLst/>
          </a:prstGeom>
          <a:solidFill>
            <a:srgbClr val="F4A300"/>
          </a:solidFill>
          <a:ln w="12700">
            <a:solidFill>
              <a:srgbClr val="F4A30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31520" y="3840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Trinity College  ·  Engineering Lab  ·  Final Ethics Presentation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we're headed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274320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D6DCE4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325880"/>
            <a:ext cx="73152" cy="1051560"/>
          </a:xfrm>
          <a:prstGeom prst="rect">
            <a:avLst/>
          </a:prstGeom>
          <a:solidFill>
            <a:srgbClr val="F4A300"/>
          </a:solidFill>
          <a:ln w="12700">
            <a:solidFill>
              <a:srgbClr val="F4A30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527048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697480" y="143560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143000" y="15087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Background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143000" y="185623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MAX program &amp; competitive pressure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337560" y="1325880"/>
            <a:ext cx="274320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D6DCE4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337560" y="1325880"/>
            <a:ext cx="73152" cy="1051560"/>
          </a:xfrm>
          <a:prstGeom prst="rect">
            <a:avLst/>
          </a:prstGeom>
          <a:solidFill>
            <a:srgbClr val="F4A300"/>
          </a:solidFill>
          <a:ln w="12700">
            <a:solidFill>
              <a:srgbClr val="F4A300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1527048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577840" y="143560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4023360" y="15087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MCAS Explained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4023360" y="185623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system did and why it existed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325880"/>
            <a:ext cx="274320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D6DCE4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217920" y="1325880"/>
            <a:ext cx="73152" cy="1051560"/>
          </a:xfrm>
          <a:prstGeom prst="rect">
            <a:avLst/>
          </a:prstGeom>
          <a:solidFill>
            <a:srgbClr val="F4A300"/>
          </a:solidFill>
          <a:ln w="12700">
            <a:solidFill>
              <a:srgbClr val="F4A300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1527048"/>
            <a:ext cx="365760" cy="3657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458200" y="143560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6903720" y="15087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Two Crashes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6903720" y="185623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Lion Air 610 &amp; Ethiopian Airlines 302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457200" y="2560320"/>
            <a:ext cx="274320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D6DCE4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457200" y="2560320"/>
            <a:ext cx="73152" cy="1051560"/>
          </a:xfrm>
          <a:prstGeom prst="rect">
            <a:avLst/>
          </a:prstGeom>
          <a:solidFill>
            <a:srgbClr val="F4A300"/>
          </a:solidFill>
          <a:ln w="12700">
            <a:solidFill>
              <a:srgbClr val="F4A300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2761488"/>
            <a:ext cx="365760" cy="36576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2697480" y="267004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6" name="Text 20"/>
          <p:cNvSpPr/>
          <p:nvPr/>
        </p:nvSpPr>
        <p:spPr>
          <a:xfrm>
            <a:off x="1143000" y="27432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Root Causes</a:t>
            </a:r>
            <a:endParaRPr lang="en-US" sz="1400" dirty="0"/>
          </a:p>
        </p:txBody>
      </p:sp>
      <p:sp>
        <p:nvSpPr>
          <p:cNvPr id="27" name="Text 21"/>
          <p:cNvSpPr/>
          <p:nvPr/>
        </p:nvSpPr>
        <p:spPr>
          <a:xfrm>
            <a:off x="1143000" y="309067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Engineering, sensor, and process failures</a:t>
            </a:r>
            <a:endParaRPr lang="en-US" sz="1100" dirty="0"/>
          </a:p>
        </p:txBody>
      </p:sp>
      <p:sp>
        <p:nvSpPr>
          <p:cNvPr id="28" name="Shape 22"/>
          <p:cNvSpPr/>
          <p:nvPr/>
        </p:nvSpPr>
        <p:spPr>
          <a:xfrm>
            <a:off x="3337560" y="2560320"/>
            <a:ext cx="274320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D6DCE4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3337560" y="2560320"/>
            <a:ext cx="73152" cy="1051560"/>
          </a:xfrm>
          <a:prstGeom prst="rect">
            <a:avLst/>
          </a:prstGeom>
          <a:solidFill>
            <a:srgbClr val="F4A300"/>
          </a:solidFill>
          <a:ln w="12700">
            <a:solidFill>
              <a:srgbClr val="F4A300"/>
            </a:solidFill>
            <a:prstDash val="solid"/>
          </a:ln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66160" y="2761488"/>
            <a:ext cx="365760" cy="36576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5577840" y="267004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32" name="Text 25"/>
          <p:cNvSpPr/>
          <p:nvPr/>
        </p:nvSpPr>
        <p:spPr>
          <a:xfrm>
            <a:off x="4023360" y="27432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Ethical Analysis</a:t>
            </a:r>
            <a:endParaRPr lang="en-US" sz="1400" dirty="0"/>
          </a:p>
        </p:txBody>
      </p:sp>
      <p:sp>
        <p:nvSpPr>
          <p:cNvPr id="33" name="Text 26"/>
          <p:cNvSpPr/>
          <p:nvPr/>
        </p:nvSpPr>
        <p:spPr>
          <a:xfrm>
            <a:off x="4023360" y="309067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decision-making broke down</a:t>
            </a:r>
            <a:endParaRPr lang="en-US" sz="1100" dirty="0"/>
          </a:p>
        </p:txBody>
      </p:sp>
      <p:sp>
        <p:nvSpPr>
          <p:cNvPr id="34" name="Shape 27"/>
          <p:cNvSpPr/>
          <p:nvPr/>
        </p:nvSpPr>
        <p:spPr>
          <a:xfrm>
            <a:off x="6217920" y="2560320"/>
            <a:ext cx="274320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D6DCE4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6217920" y="2560320"/>
            <a:ext cx="73152" cy="1051560"/>
          </a:xfrm>
          <a:prstGeom prst="rect">
            <a:avLst/>
          </a:prstGeom>
          <a:solidFill>
            <a:srgbClr val="F4A300"/>
          </a:solidFill>
          <a:ln w="12700">
            <a:solidFill>
              <a:srgbClr val="F4A300"/>
            </a:solidFill>
            <a:prstDash val="solid"/>
          </a:ln>
        </p:spPr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46520" y="2761488"/>
            <a:ext cx="365760" cy="365760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8458200" y="267004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38" name="Text 30"/>
          <p:cNvSpPr/>
          <p:nvPr/>
        </p:nvSpPr>
        <p:spPr>
          <a:xfrm>
            <a:off x="6903720" y="27432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Lab Connections</a:t>
            </a:r>
            <a:endParaRPr lang="en-US" sz="1400" dirty="0"/>
          </a:p>
        </p:txBody>
      </p:sp>
      <p:sp>
        <p:nvSpPr>
          <p:cNvPr id="39" name="Text 31"/>
          <p:cNvSpPr/>
          <p:nvPr/>
        </p:nvSpPr>
        <p:spPr>
          <a:xfrm>
            <a:off x="6903720" y="309067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our coursework tells us about this</a:t>
            </a:r>
            <a:endParaRPr lang="en-US" sz="1100" dirty="0"/>
          </a:p>
        </p:txBody>
      </p:sp>
      <p:sp>
        <p:nvSpPr>
          <p:cNvPr id="40" name="Text 32"/>
          <p:cNvSpPr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Boeing 737 MAX  |  Engineering Ethics Case Study</a:t>
            </a:r>
            <a:endParaRPr lang="en-US" sz="900" dirty="0"/>
          </a:p>
        </p:txBody>
      </p:sp>
      <p:sp>
        <p:nvSpPr>
          <p:cNvPr id="41" name="Text 33"/>
          <p:cNvSpPr/>
          <p:nvPr/>
        </p:nvSpPr>
        <p:spPr>
          <a:xfrm>
            <a:off x="8229600" y="48463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E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new engine, an old airframe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Boeing's 1960s-era 737 was the company's bestseller. When Airbus launched the fuel-efficient A320neo in 2010, Boeing needed a fast, cheap response.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219456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Rather than design a new aircraft, Boeing fitted the 737 with much larger, more efficient LEAP-1B engines. To fit them under the low 737 wing, the engines had to be moved forward and up.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3246120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B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changed how the airplane handled — it had a tendency to pitch up at high angles of attack. MCAS was created in software to mask that tendency, so pilots wouldn't need new simulator training.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394960" y="12344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PRESSURES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394960" y="1600200"/>
            <a:ext cx="3291840" cy="841248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394960" y="1600200"/>
            <a:ext cx="73152" cy="841248"/>
          </a:xfrm>
          <a:prstGeom prst="rect">
            <a:avLst/>
          </a:prstGeom>
          <a:solidFill>
            <a:srgbClr val="F4A300"/>
          </a:solidFill>
          <a:ln w="12700">
            <a:solidFill>
              <a:srgbClr val="F4A3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577840" y="16916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577840" y="19659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Beat the Airbus A320neo to market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394960" y="2560320"/>
            <a:ext cx="3291840" cy="841248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394960" y="2560320"/>
            <a:ext cx="73152" cy="841248"/>
          </a:xfrm>
          <a:prstGeom prst="rect">
            <a:avLst/>
          </a:prstGeom>
          <a:solidFill>
            <a:srgbClr val="F4A300"/>
          </a:solidFill>
          <a:ln w="12700">
            <a:solidFill>
              <a:srgbClr val="F4A3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77840" y="26517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577840" y="29260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full simulator retraining for airlines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394960" y="3520440"/>
            <a:ext cx="3291840" cy="841248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394960" y="3520440"/>
            <a:ext cx="73152" cy="841248"/>
          </a:xfrm>
          <a:prstGeom prst="rect">
            <a:avLst/>
          </a:prstGeom>
          <a:solidFill>
            <a:srgbClr val="F4A300"/>
          </a:solidFill>
          <a:ln w="12700">
            <a:solidFill>
              <a:srgbClr val="F4A3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577840" y="36118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577840" y="38862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Re-certify quickly under existing 737 type rating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Boeing 737 MAX  |  Engineering Ethics Case Study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229600" y="48463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E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MCAS actually did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402336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D6DCE4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34440"/>
            <a:ext cx="73152" cy="329184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41732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88720" y="137160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Maneuvering Characteristics Augmentation System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85800" y="2011680"/>
            <a:ext cx="3657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Trigger:  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B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angle-of-attack (AOA) reading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  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B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pushes nose down via horizontal stabilizer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   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B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AOA sensor (no redundancy used)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C12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Disclosed to pilots? 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B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— omitted from manuals &amp; training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846320" y="1325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CHAIN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846320" y="1737360"/>
            <a:ext cx="411480" cy="411480"/>
          </a:xfrm>
          <a:prstGeom prst="ellipse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846320" y="1737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5394960" y="16916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Faulty AOA sensor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394960" y="198424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sensor reports false high-angle data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052060" y="2148840"/>
            <a:ext cx="0" cy="256032"/>
          </a:xfrm>
          <a:prstGeom prst="line">
            <a:avLst/>
          </a:prstGeom>
          <a:noFill/>
          <a:ln w="19050">
            <a:solidFill>
              <a:srgbClr val="8DA9C4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846320" y="2450592"/>
            <a:ext cx="411480" cy="411480"/>
          </a:xfrm>
          <a:prstGeom prst="ellipse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846320" y="24505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5394960" y="240487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MCAS activates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5394960" y="26974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believes plane is stalling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5052060" y="2862072"/>
            <a:ext cx="0" cy="256032"/>
          </a:xfrm>
          <a:prstGeom prst="line">
            <a:avLst/>
          </a:prstGeom>
          <a:noFill/>
          <a:ln w="19050">
            <a:solidFill>
              <a:srgbClr val="8DA9C4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846320" y="3163824"/>
            <a:ext cx="411480" cy="411480"/>
          </a:xfrm>
          <a:prstGeom prst="ellipse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846320" y="316382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5394960" y="311810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Stabilizer trims down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5394960" y="341071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Nose pushed toward ground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5052060" y="3575304"/>
            <a:ext cx="0" cy="256032"/>
          </a:xfrm>
          <a:prstGeom prst="line">
            <a:avLst/>
          </a:prstGeom>
          <a:noFill/>
          <a:ln w="19050">
            <a:solidFill>
              <a:srgbClr val="8DA9C4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4846320" y="3877056"/>
            <a:ext cx="411480" cy="41148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846320" y="387705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5394960" y="383133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Pilots fight back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5394960" y="412394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MCAS re-engages every ~10 seconds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Boeing 737 MAX  |  Engineering Ethics Case Study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8229600" y="48463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E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TRAGEDIES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crashes, five months apart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4023360" cy="3337560"/>
          </a:xfrm>
          <a:prstGeom prst="rect">
            <a:avLst/>
          </a:prstGeom>
          <a:solidFill>
            <a:srgbClr val="FFFFFF"/>
          </a:solidFill>
          <a:ln w="9525">
            <a:solidFill>
              <a:srgbClr val="D6DCE4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34440"/>
            <a:ext cx="4023360" cy="73152"/>
          </a:xfrm>
          <a:prstGeom prst="rect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41732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88720" y="13716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LION AIR 610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188720" y="171907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October 29, 2018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40080" y="21031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C127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189</a:t>
            </a:r>
            <a:endParaRPr lang="en-US" sz="4800" dirty="0"/>
          </a:p>
        </p:txBody>
      </p:sp>
      <p:sp>
        <p:nvSpPr>
          <p:cNvPr id="10" name="Text 7"/>
          <p:cNvSpPr/>
          <p:nvPr/>
        </p:nvSpPr>
        <p:spPr>
          <a:xfrm>
            <a:off x="640080" y="27432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lives lost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2606040" y="2148840"/>
            <a:ext cx="1783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spc="300" kern="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B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Jakarta → Pangkal Pinang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b="1" spc="300" kern="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 TIME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B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minutes after takeoff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685800" y="3246120"/>
            <a:ext cx="3611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Crashed into the Java Sea. Investigators traced the cause to a faulty AOA sensor and repeated MCAS activations the pilots could not diagnose.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663440" y="1234440"/>
            <a:ext cx="4023360" cy="3337560"/>
          </a:xfrm>
          <a:prstGeom prst="rect">
            <a:avLst/>
          </a:prstGeom>
          <a:solidFill>
            <a:srgbClr val="FFFFFF"/>
          </a:solidFill>
          <a:ln w="9525">
            <a:solidFill>
              <a:srgbClr val="D6DCE4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663440" y="1234440"/>
            <a:ext cx="4023360" cy="73152"/>
          </a:xfrm>
          <a:prstGeom prst="rect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417320"/>
            <a:ext cx="365760" cy="36576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394960" y="13716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ETHIOPIAN 302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5394960" y="171907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10, 2019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4846320" y="21031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C127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157</a:t>
            </a:r>
            <a:endParaRPr lang="en-US" sz="4800" dirty="0"/>
          </a:p>
        </p:txBody>
      </p:sp>
      <p:sp>
        <p:nvSpPr>
          <p:cNvPr id="19" name="Text 15"/>
          <p:cNvSpPr/>
          <p:nvPr/>
        </p:nvSpPr>
        <p:spPr>
          <a:xfrm>
            <a:off x="4846320" y="27432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lives lost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6812280" y="2148840"/>
            <a:ext cx="1783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spc="300" kern="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B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Addis Ababa → Nairobi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b="1" spc="300" kern="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 TIME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B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minutes after takeoff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4892040" y="3246120"/>
            <a:ext cx="3611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Crashed in a field 39 mi from departure. Crew followed Boeing's post-Lion Air checklist but could not recover; the MAX fleet was grounded worldwide within days.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Boeing 737 MAX  |  Engineering Ethics Case Study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8229600" y="48463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E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went wrong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402336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C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80160"/>
            <a:ext cx="4023360" cy="54864"/>
          </a:xfrm>
          <a:prstGeom prst="rect">
            <a:avLst/>
          </a:prstGeom>
          <a:solidFill>
            <a:srgbClr val="F4A300"/>
          </a:solidFill>
          <a:ln w="12700">
            <a:solidFill>
              <a:srgbClr val="F4A30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55448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34440" y="153619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Single-Point Sensor Design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31520" y="2057400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MCAS relied on input from one AOA sensor — no cross-check. A single faulty reading was enough to trigger a fatal command.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663440" y="1280160"/>
            <a:ext cx="402336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C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63440" y="1280160"/>
            <a:ext cx="4023360" cy="54864"/>
          </a:xfrm>
          <a:prstGeom prst="rect">
            <a:avLst/>
          </a:prstGeom>
          <a:solidFill>
            <a:srgbClr val="F4A300"/>
          </a:solidFill>
          <a:ln w="12700">
            <a:solidFill>
              <a:srgbClr val="F4A300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554480"/>
            <a:ext cx="411480" cy="411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40680" y="153619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Compromised Certification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937760" y="2057400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Boeing employees acted as FAA-designated reviewers. The 'delegation of delegation' meant Boeing helped decide what the FAA would scrutinize.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457200" y="3017520"/>
            <a:ext cx="402336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C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57200" y="3017520"/>
            <a:ext cx="4023360" cy="54864"/>
          </a:xfrm>
          <a:prstGeom prst="rect">
            <a:avLst/>
          </a:prstGeom>
          <a:solidFill>
            <a:srgbClr val="F4A300"/>
          </a:solidFill>
          <a:ln w="12700">
            <a:solidFill>
              <a:srgbClr val="F4A300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291840"/>
            <a:ext cx="411480" cy="4114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234440" y="327355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Hidden from Pilots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731520" y="3794760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MCAS was deliberately omitted from training manuals to avoid triggering simulator-training requirements that would have cost airlines money.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4663440" y="3017520"/>
            <a:ext cx="402336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C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663440" y="3017520"/>
            <a:ext cx="4023360" cy="54864"/>
          </a:xfrm>
          <a:prstGeom prst="rect">
            <a:avLst/>
          </a:prstGeom>
          <a:solidFill>
            <a:srgbClr val="F4A300"/>
          </a:solidFill>
          <a:ln w="12700">
            <a:solidFill>
              <a:srgbClr val="F4A300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3291840"/>
            <a:ext cx="411480" cy="41148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440680" y="327355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Cost &amp; Schedule Pressure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4937760" y="3794760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communications showed engineers were pushed to keep changes minimal — even when test data flagged MCAS as potentially catastrophic.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Boeing 737 MAX  |  Engineering Ethics Case Study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8229600" y="48463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E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ETHICAL ANALYSIS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ethics broke down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B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codes of ethics (NSPE, IEEE, ASME) share a clear hierarchy: public safety comes first, ahead of employer interests or competitive position.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4114800" cy="2788920"/>
          </a:xfrm>
          <a:prstGeom prst="rect">
            <a:avLst/>
          </a:prstGeom>
          <a:solidFill>
            <a:srgbClr val="FFFFFF"/>
          </a:solidFill>
          <a:ln w="9525">
            <a:solidFill>
              <a:srgbClr val="D6DCE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828800"/>
            <a:ext cx="4114800" cy="411480"/>
          </a:xfrm>
          <a:prstGeom prst="rect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8745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PRINCIPLES VIOLATED</a:t>
            </a:r>
            <a:endParaRPr lang="en-US" sz="12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423160"/>
            <a:ext cx="292608" cy="29260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05840" y="23774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safety first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005840" y="265176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and schedule were prioritized over disclosure of a flight-critical system.</a:t>
            </a:r>
            <a:endParaRPr lang="en-US" sz="11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136392"/>
            <a:ext cx="292608" cy="2926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05840" y="309067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Honesty &amp; transparency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1005840" y="3364992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MCAS was hidden from pilots; the FAA was not informed of a late-stage authority increase.</a:t>
            </a:r>
            <a:endParaRPr lang="en-US" sz="11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849624"/>
            <a:ext cx="292608" cy="29260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005840" y="380390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Whistleblower duty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1005840" y="4078224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concerns from engineers and test pilots reportedly did not flow up the chain.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4754880" y="1828800"/>
            <a:ext cx="3931920" cy="2788920"/>
          </a:xfrm>
          <a:prstGeom prst="rect">
            <a:avLst/>
          </a:prstGeom>
          <a:solidFill>
            <a:srgbClr val="FFFFFF"/>
          </a:solidFill>
          <a:ln w="9525">
            <a:solidFill>
              <a:srgbClr val="D6DCE4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4754880" y="1828800"/>
            <a:ext cx="3931920" cy="411480"/>
          </a:xfrm>
          <a:prstGeom prst="rect">
            <a:avLst/>
          </a:prstGeom>
          <a:solidFill>
            <a:srgbClr val="1F7A3A"/>
          </a:solidFill>
          <a:ln w="12700">
            <a:solidFill>
              <a:srgbClr val="1F7A3A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4937760" y="1874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CODE DEMANDS</a:t>
            </a:r>
            <a:endParaRPr lang="en-US" sz="1200" dirty="0"/>
          </a:p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2423160"/>
            <a:ext cx="292608" cy="29260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303520" y="237744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safety-critical software as such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5303520" y="265176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Single-sensor inputs and silent authority over flight controls require full safety review.</a:t>
            </a:r>
            <a:endParaRPr lang="en-US" sz="1100" dirty="0"/>
          </a:p>
        </p:txBody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7760" y="3136392"/>
            <a:ext cx="292608" cy="292608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5303520" y="3090672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Disclose, don't disguise</a:t>
            </a:r>
            <a:endParaRPr lang="en-US" sz="1300" dirty="0"/>
          </a:p>
        </p:txBody>
      </p:sp>
      <p:sp>
        <p:nvSpPr>
          <p:cNvPr id="25" name="Text 18"/>
          <p:cNvSpPr/>
          <p:nvPr/>
        </p:nvSpPr>
        <p:spPr>
          <a:xfrm>
            <a:off x="5303520" y="3364992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system can override pilots, pilots must be trained on it — period.</a:t>
            </a:r>
            <a:endParaRPr lang="en-US" sz="1100" dirty="0"/>
          </a:p>
        </p:txBody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7760" y="3849624"/>
            <a:ext cx="292608" cy="292608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5303520" y="3803904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oversight</a:t>
            </a:r>
            <a:endParaRPr lang="en-US" sz="1300" dirty="0"/>
          </a:p>
        </p:txBody>
      </p:sp>
      <p:sp>
        <p:nvSpPr>
          <p:cNvPr id="28" name="Text 20"/>
          <p:cNvSpPr/>
          <p:nvPr/>
        </p:nvSpPr>
        <p:spPr>
          <a:xfrm>
            <a:off x="5303520" y="4078224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Regulators must verify, not delegate, the assessment of catastrophic-class hazards.</a:t>
            </a:r>
            <a:endParaRPr lang="en-US" sz="1100" dirty="0"/>
          </a:p>
        </p:txBody>
      </p:sp>
      <p:sp>
        <p:nvSpPr>
          <p:cNvPr id="29" name="Text 21"/>
          <p:cNvSpPr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Boeing 737 MAX  |  Engineering Ethics Case Study</a:t>
            </a:r>
            <a:endParaRPr lang="en-US" sz="900" dirty="0"/>
          </a:p>
        </p:txBody>
      </p:sp>
      <p:sp>
        <p:nvSpPr>
          <p:cNvPr id="30" name="Text 22"/>
          <p:cNvSpPr/>
          <p:nvPr/>
        </p:nvSpPr>
        <p:spPr>
          <a:xfrm>
            <a:off x="8229600" y="48463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E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TIE-IN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this connects to our lab work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B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failure on this slide is a problem we've practiced solving in lab — but at engineering scale, with lives in the balance.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3108960" cy="36576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0" y="1691640"/>
            <a:ext cx="5029200" cy="36576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74650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TOPIC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794760" y="1746504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MEANS FOR THE 737 MAX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057400"/>
            <a:ext cx="310896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6DCE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0" y="2057400"/>
            <a:ext cx="50292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6DCE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1488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 &amp; sensor input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794760" y="21488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MCAS read a single AOA sensor with no cross-check — the engineering equivalent of using one thermocouple and trusting the number.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697480"/>
            <a:ext cx="3108960" cy="640080"/>
          </a:xfrm>
          <a:prstGeom prst="rect">
            <a:avLst/>
          </a:prstGeom>
          <a:solidFill>
            <a:srgbClr val="F5F8FB"/>
          </a:solidFill>
          <a:ln w="6350">
            <a:solidFill>
              <a:srgbClr val="D6DCE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0" y="2697480"/>
            <a:ext cx="5029200" cy="640080"/>
          </a:xfrm>
          <a:prstGeom prst="rect">
            <a:avLst/>
          </a:prstGeom>
          <a:solidFill>
            <a:srgbClr val="F5F8FB"/>
          </a:solidFill>
          <a:ln w="6350">
            <a:solidFill>
              <a:srgbClr val="D6DCE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27889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 &amp; uncertainty in measurement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794760" y="27889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Sensors fail. Our labs propagate uncertainty; safety-critical aerospace systems must do the same and design for sensor disagreement.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337560"/>
            <a:ext cx="310896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6DCE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0" y="3337560"/>
            <a:ext cx="50292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6DCE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34290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characterization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794760" y="34290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MAX's pitch-up tendency was a known characteristic 'fixed' in software. Characterizing the underlying physical behavior is non-negotiable.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3977640"/>
            <a:ext cx="3108960" cy="640080"/>
          </a:xfrm>
          <a:prstGeom prst="rect">
            <a:avLst/>
          </a:prstGeom>
          <a:solidFill>
            <a:srgbClr val="F5F8FB"/>
          </a:solidFill>
          <a:ln w="6350">
            <a:solidFill>
              <a:srgbClr val="D6DCE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0" y="3977640"/>
            <a:ext cx="5029200" cy="640080"/>
          </a:xfrm>
          <a:prstGeom prst="rect">
            <a:avLst/>
          </a:prstGeom>
          <a:solidFill>
            <a:srgbClr val="F5F8FB"/>
          </a:solidFill>
          <a:ln w="6350">
            <a:solidFill>
              <a:srgbClr val="D6DCE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40690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Presenting &amp; communicating data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794760" y="40690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Engineers documented MCAS risks internally — but the information never reached pilots or regulators. Communication is part of the engineering work.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Boeing 737 MAX  |  Engineering Ethics Case Study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229600" y="48463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E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CONSEQUENCES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Aftermath &amp; assessment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269748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D6DC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325880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C127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346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201168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lives lost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91840" y="1234440"/>
            <a:ext cx="269748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D6DC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91840" y="1325880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 mo.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3291840" y="201168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fleet grounding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26480" y="1234440"/>
            <a:ext cx="269748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D6DC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126480" y="1325880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$2.5B+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6126480" y="201168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DOJ settlements &amp; fines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606040"/>
            <a:ext cx="8229600" cy="201168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2606040"/>
            <a:ext cx="91440" cy="2011680"/>
          </a:xfrm>
          <a:prstGeom prst="rect">
            <a:avLst/>
          </a:prstGeom>
          <a:solidFill>
            <a:srgbClr val="F4A300"/>
          </a:solidFill>
          <a:ln w="12700">
            <a:solidFill>
              <a:srgbClr val="F4A3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27432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ASSESSMENT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31520" y="3035808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Boeing's decisions were not the result of a single bad actor. They were the predictable output of a system that rewarded speed over safety, treated software as a place to hide hardware compromises, and let the regulated party shape the regulator's scope.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31520" y="393192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2024 Boeing agreed to plead guilty to conspiracy to defraud the FAA — but the deeper lesson for engineers is that ethics is not a final-stage compliance check. It's a load-bearing element of every design decision we make.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Boeing 737 MAX  |  Engineering Ethics Case Study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229600" y="48463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618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F4A300"/>
          </a:solidFill>
          <a:ln w="12700">
            <a:solidFill>
              <a:srgbClr val="F4A300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640080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13258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731520" y="1691640"/>
            <a:ext cx="7955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Engineering ethics is engineering.</a:t>
            </a:r>
            <a:endParaRPr lang="en-US" sz="3600" dirty="0"/>
          </a:p>
        </p:txBody>
      </p:sp>
      <p:sp>
        <p:nvSpPr>
          <p:cNvPr id="6" name="Shape 3"/>
          <p:cNvSpPr/>
          <p:nvPr/>
        </p:nvSpPr>
        <p:spPr>
          <a:xfrm>
            <a:off x="731520" y="2697480"/>
            <a:ext cx="164592" cy="164592"/>
          </a:xfrm>
          <a:prstGeom prst="ellipse">
            <a:avLst/>
          </a:prstGeom>
          <a:solidFill>
            <a:srgbClr val="F4A300"/>
          </a:solidFill>
          <a:ln w="12700">
            <a:solidFill>
              <a:srgbClr val="F4A30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51560" y="2606040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EF4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Safety-critical systems demand sensor redundancy and fail-safe behavior — always.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731520" y="3154680"/>
            <a:ext cx="164592" cy="164592"/>
          </a:xfrm>
          <a:prstGeom prst="ellipse">
            <a:avLst/>
          </a:prstGeom>
          <a:solidFill>
            <a:srgbClr val="F4A300"/>
          </a:solidFill>
          <a:ln w="12700">
            <a:solidFill>
              <a:srgbClr val="F4A30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51560" y="3063240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EF4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design choice depends on hiding information from end users, that's the warning sign.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731520" y="3611880"/>
            <a:ext cx="164592" cy="164592"/>
          </a:xfrm>
          <a:prstGeom prst="ellipse">
            <a:avLst/>
          </a:prstGeom>
          <a:solidFill>
            <a:srgbClr val="F4A300"/>
          </a:solidFill>
          <a:ln w="12700">
            <a:solidFill>
              <a:srgbClr val="F4A30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51560" y="3520440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EF4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Cost, schedule, and competition are real — but they live below public safety in the priority stack.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731520" y="4069080"/>
            <a:ext cx="164592" cy="164592"/>
          </a:xfrm>
          <a:prstGeom prst="ellipse">
            <a:avLst/>
          </a:prstGeom>
          <a:solidFill>
            <a:srgbClr val="F4A300"/>
          </a:solidFill>
          <a:ln w="12700">
            <a:solidFill>
              <a:srgbClr val="F4A30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051560" y="3977640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EF4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Engineers have a duty to escalate; organizations have a duty to listen.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731520" y="45720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F4A3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Questions?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Boeing 737 MAX: An Engineering Ethics Case Study</dc:title>
  <dc:subject>PptxGenJS Presentation</dc:subject>
  <dc:creator>Trinity College — ENGR Lab</dc:creator>
  <cp:lastModifiedBy>Trinity College — ENGR Lab</cp:lastModifiedBy>
  <cp:revision>1</cp:revision>
  <dcterms:created xsi:type="dcterms:W3CDTF">2026-05-04T02:49:48Z</dcterms:created>
  <dcterms:modified xsi:type="dcterms:W3CDTF">2026-05-04T02:49:48Z</dcterms:modified>
</cp:coreProperties>
</file>