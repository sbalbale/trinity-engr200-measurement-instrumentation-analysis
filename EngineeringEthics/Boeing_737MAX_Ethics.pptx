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66" r:id="rId2"/>
    <p:sldId id="271" r:id="rId3"/>
    <p:sldId id="272" r:id="rId4"/>
    <p:sldId id="273" r:id="rId5"/>
    <p:sldId id="274" r:id="rId6"/>
    <p:sldId id="275" r:id="rId7"/>
    <p:sldId id="276" r:id="rId8"/>
    <p:sldId id="277" r:id="rId9"/>
    <p:sldId id="278" r:id="rId10"/>
    <p:sldId id="279" r:id="rId1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70085" autoAdjust="0"/>
  </p:normalViewPr>
  <p:slideViewPr>
    <p:cSldViewPr snapToGrid="0" snapToObjects="1">
      <p:cViewPr varScale="1">
        <p:scale>
          <a:sx n="117" d="100"/>
          <a:sy n="117" d="100"/>
        </p:scale>
        <p:origin x="143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22842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 before we get into anything technical, I want to set the scene.</a:t>
            </a:r>
          </a:p>
          <a:p>
            <a:endParaRPr lang="en-US" dirty="0"/>
          </a:p>
          <a:p>
            <a:r>
              <a:rPr lang="en-US" dirty="0"/>
              <a:t>In October 2018, a Boeing 737 MAX operated by Lion Air plunged into the Java Sea thirteen minutes after takeoff. 189 people were killed. Boeing, the FAA, and airlines around the world initially said it was an anomaly — a maintenance issue, a crew training failure. Five months later, Ethiopian Airlines Flight 302 crashed in a field outside Addis Ababa, six minutes after takeoff. 157 more people were dead.</a:t>
            </a:r>
          </a:p>
          <a:p>
            <a:endParaRPr lang="en-US" dirty="0"/>
          </a:p>
          <a:p>
            <a:r>
              <a:rPr lang="en-US" dirty="0"/>
              <a:t>The world grounded the MAX. And what investigators found when they pulled back the curtain wasn't just a software bug. It was a system — a culture of cost pressure, a regulatory relationship that had eroded from the inside, and a series of engineering decisions that prioritized market share over pilot safety.</a:t>
            </a:r>
          </a:p>
          <a:p>
            <a:endParaRPr lang="en-US" dirty="0"/>
          </a:p>
          <a:p>
            <a:r>
              <a:rPr lang="en-US" dirty="0"/>
              <a:t>That's what this presentation is about. Not just what went wrong, but why — and what it means for us as engineers. We'll cover the background, how MCAS actually worked, both crashes, and then the root causes and ethical failures that made all of this possible. [~1 min]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we're going to structure the next ten minutes.</a:t>
            </a:r>
          </a:p>
          <a:p>
            <a:endParaRPr lang="en-US" dirty="0"/>
          </a:p>
          <a:p>
            <a:r>
              <a:rPr lang="en-US" dirty="0"/>
              <a:t>We'll start with the background: how Boeing ended up putting new engines on a 50-year-old airframe design, and why the competitive pressure from Airbus forced a series of compromises that cascaded into something catastrophic. Then we'll get into what MCAS actually was — because I think most people, even engineers, don't fully understand what that system was doing and why it was so dangerous.</a:t>
            </a:r>
          </a:p>
          <a:p>
            <a:endParaRPr lang="en-US" dirty="0"/>
          </a:p>
          <a:p>
            <a:r>
              <a:rPr lang="en-US" dirty="0"/>
              <a:t>From there we'll walk through both crashes: Lion Air 610 and Ethiopian 302. After that, the second half covers the root causes — the single-point failure, the undisclosed system, the certification shortcuts — and then the ethical analysis, where we'll talk about what actually broke down at the decision-making level.</a:t>
            </a:r>
          </a:p>
          <a:p>
            <a:endParaRPr lang="en-US" dirty="0"/>
          </a:p>
          <a:p>
            <a:r>
              <a:rPr lang="en-US" dirty="0"/>
              <a:t>We'll close with what this all connects back to for us specifically, as engineers in training. [~1 min]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737 is one of the most successful commercial aircraft ever built. Boeing first flew it in 1967. By the 2010s, it had gone through multiple generations — the Classic, the Next Generation — and airlines had built their entire operations around it. Pilots were type-rated on it. Simulators were everywhere. It was the definition of a mature, profitable product.</a:t>
            </a:r>
          </a:p>
          <a:p>
            <a:endParaRPr lang="en-US" dirty="0"/>
          </a:p>
          <a:p>
            <a:r>
              <a:rPr lang="en-US" dirty="0"/>
              <a:t>Then in 2010, Airbus announced the A320neo — same narrow-body category, but with new CFM LEAP engines that promised 15% better fuel efficiency. Airlines immediately lined up. American Airlines, historically a Boeing-only shop, placed an order for 260 A320neos. Boeing had a decision to make: build an entirely new aircraft, or update the 737.</a:t>
            </a:r>
          </a:p>
          <a:p>
            <a:endParaRPr lang="en-US" dirty="0"/>
          </a:p>
          <a:p>
            <a:r>
              <a:rPr lang="en-US" dirty="0"/>
              <a:t>Building a new plane takes a decade and tens of billions of dollars. So Boeing chose to re-engine. They bolted the new LEAP-1B engines — larger in diameter than any engine the 737 had ever carried — onto the existing airframe. To make them fit, engineers moved the engines forward and upward on the wing. That changed the aerodynamics. At high angles of attack, the aircraft had a tendency to pitch its nose up. That's a problem.</a:t>
            </a:r>
          </a:p>
          <a:p>
            <a:endParaRPr lang="en-US" dirty="0"/>
          </a:p>
          <a:p>
            <a:r>
              <a:rPr lang="en-US" dirty="0"/>
              <a:t>MCAS — the Maneuvering Characteristics Augmentation System — was Boeing's software fix. Instead of redesigning the airframe, they wrote a system to push the nose back down automatically. While the engineering logic wasn't inherently wrong, the execution is where the failure chain begins. [~1 min 15 sec]</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did MCAS actually do? Let's walk through the mechanics.</a:t>
            </a:r>
          </a:p>
          <a:p>
            <a:endParaRPr lang="en-US" dirty="0"/>
          </a:p>
          <a:p>
            <a:r>
              <a:rPr lang="en-US" dirty="0"/>
              <a:t>MCAS — Maneuvering Characteristics Augmentation System — was triggered whenever the plane's Angle of Attack sensor reported a high AOA reading, meaning the nose was pitched up steeply enough to risk a stall. When triggered, it automatically commanded the horizontal stabilizer to push the nose back down. Not the ailerons, not the elevator — the stabilizer. That's a much more powerful input than what a pilot would normally use to control pitch.</a:t>
            </a:r>
          </a:p>
          <a:p>
            <a:endParaRPr lang="en-US" dirty="0"/>
          </a:p>
          <a:p>
            <a:r>
              <a:rPr lang="en-US" dirty="0"/>
              <a:t>Here's the critical design flaw: MCAS relied on a single AOA sensor. No redundancy. One sensor, feeding one system, controlling a flight-critical trim input. And here's what made it worse — the system was not disclosed to pilots. It wasn't in the flight manual. Pilots flying the MAX had no idea the system existed, which meant that when it activated erroneously, they had no context for what was fighting them.</a:t>
            </a:r>
          </a:p>
          <a:p>
            <a:endParaRPr lang="en-US" dirty="0"/>
          </a:p>
          <a:p>
            <a:r>
              <a:rPr lang="en-US" dirty="0"/>
              <a:t>The failure chain went like this: a faulty AOA sensor sends a bad reading. MCAS activates and trims the stabilizer nose-down. The pilot counters with the control column. MCAS reads the same bad AOA, re-engages ten seconds later, trims further down. The cycle repeats. Each activation overpowers the pilot's ability to correct, because the stabilizer has more authority than the column.</a:t>
            </a:r>
          </a:p>
          <a:p>
            <a:endParaRPr lang="en-US" dirty="0"/>
          </a:p>
          <a:p>
            <a:r>
              <a:rPr lang="en-US" dirty="0"/>
              <a:t>That's not pilot error. That's a system design that failed — quietly, without disclosure, and without a safety net. [~1 min 15 sec]</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what that failure chain looked like in the real world — twice.</a:t>
            </a:r>
          </a:p>
          <a:p>
            <a:endParaRPr lang="en-US" dirty="0"/>
          </a:p>
          <a:p>
            <a:r>
              <a:rPr lang="en-US" dirty="0"/>
              <a:t>October 29th, 2018. Lion Air Flight 610, Jakarta to Pangkal Pinang. The aircraft departs Soekarno-Hatta International Airport and climbs normally for the first few minutes. Then the AOA sensor — which had been flagged as faulty the night before, with maintenance notes that weren't fully actioned — begins sending erroneous data. MCAS activates. The crew fights back. MCAS re-engages. Eleven minutes after takeoff, the aircraft strikes the Java Sea at high speed. 189 people dead.</a:t>
            </a:r>
          </a:p>
          <a:p>
            <a:endParaRPr lang="en-US" dirty="0"/>
          </a:p>
          <a:p>
            <a:r>
              <a:rPr lang="en-US" dirty="0"/>
              <a:t>Five months later. March 10th, 2019. Ethiopian Airlines Flight 302, Addis Ababa to Nairobi. The crew had reviewed Boeing's interim guidance issued after Lion Air — essentially, a workaround procedure for MCAS. Six minutes after takeoff, the same failure chain starts. The crew follows the procedure. It doesn't work. The aircraft crashes 37 miles from the airport. 157 more people dead.</a:t>
            </a:r>
          </a:p>
          <a:p>
            <a:endParaRPr lang="en-US" dirty="0"/>
          </a:p>
          <a:p>
            <a:r>
              <a:rPr lang="en-US" dirty="0"/>
              <a:t>That second crash is the one that really matters from an engineering ethics standpoint. Because at that point, Boeing and the FAA knew there was a problem. They had issued guidance. And the guidance was insufficient. While Boeing had taken initial corrective steps after Lion Air, those steps were not enough to prevent another identical failure five months later.</a:t>
            </a:r>
          </a:p>
          <a:p>
            <a:endParaRPr lang="en-US" dirty="0"/>
          </a:p>
          <a:p>
            <a:r>
              <a:rPr lang="en-US" dirty="0"/>
              <a:t>On March 13th, 2019, the FAA grounded the entire global 737 MAX fleet. It stayed grounded for 20 months. [~1 min 15 sec]</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This slide identifies the four structural failures that made the 737 MAX crashes possible — not individual mistakes, but systemic design and governance failures.</a:t>
            </a:r>
          </a:p>
          <a:p>
            <a:endParaRPr lang="en-US" sz="1200" dirty="0"/>
          </a:p>
          <a:p>
            <a:r>
              <a:rPr lang="en-US" sz="1200" dirty="0"/>
              <a:t>Single-Point Sensor Design: MCAS was wired to a single angle-of-attack sensor. There was no cross-check. When that sensor gave a false reading, the system accepted it as ground truth and pushed the nose down repeatedly. The pilots had no idea what was fighting them.</a:t>
            </a:r>
          </a:p>
          <a:p>
            <a:endParaRPr lang="en-US" sz="1200" dirty="0"/>
          </a:p>
          <a:p>
            <a:r>
              <a:rPr lang="en-US" sz="1200" dirty="0"/>
              <a:t>Compromised Certification: Boeing's own employees reviewed Boeing's own work on behalf of the FAA. The company being certified was effectively setting the scope of the certification review.</a:t>
            </a:r>
          </a:p>
          <a:p>
            <a:endParaRPr lang="en-US" sz="1200" dirty="0"/>
          </a:p>
          <a:p>
            <a:r>
              <a:rPr lang="en-US" sz="1200" dirty="0"/>
              <a:t>Hidden from Pilots: MCAS was deliberately left out of the flight manual to avoid triggering simulator training requirements — a commercial promise honored over pilot safety.</a:t>
            </a:r>
          </a:p>
          <a:p>
            <a:endParaRPr lang="en-US" sz="1200" dirty="0"/>
          </a:p>
          <a:p>
            <a:r>
              <a:rPr lang="en-US" sz="1200" dirty="0"/>
              <a:t>Cost and Schedule Pressure: Internal communications released by Congress showed engineers raising red flags about MCAS. Those warnings were not acted on. The pressure to compete with the Airbus A320neo overrode the obligation to fix the problem.</a:t>
            </a:r>
          </a:p>
          <a:p>
            <a:endParaRPr lang="en-US" sz="1200" dirty="0"/>
          </a:p>
          <a:p>
            <a:r>
              <a:rPr lang="en-US" sz="1200" dirty="0"/>
              <a:t>These four failures are distinct but interconnected — each one made the others worse.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This slide applies the engineering codes of ethics directly to what Boeing did — and what they should have done instead.</a:t>
            </a:r>
          </a:p>
          <a:p>
            <a:endParaRPr lang="en-US" sz="1200" dirty="0"/>
          </a:p>
          <a:p>
            <a:r>
              <a:rPr lang="en-US" sz="1200" dirty="0"/>
              <a:t>The opening framing is important: NSPE, IEEE, and ASME all share the same hierarchy. Public safety sits at the top. It's not a competing interest — it's the first constraint. Everything else — employer interests, competitive positioning, schedule — comes after.</a:t>
            </a:r>
          </a:p>
          <a:p>
            <a:endParaRPr lang="en-US" sz="1200" dirty="0"/>
          </a:p>
          <a:p>
            <a:r>
              <a:rPr lang="en-US" sz="1200" dirty="0"/>
              <a:t>On the left, "Principles Violated":</a:t>
            </a:r>
          </a:p>
          <a:p>
            <a:r>
              <a:rPr lang="en-US" sz="1200" dirty="0"/>
              <a:t>Public safety first — Boeing prioritized cost and schedule over disclosing a flight-critical system. That is a direct inversion of the code.</a:t>
            </a:r>
          </a:p>
          <a:p>
            <a:r>
              <a:rPr lang="en-US" sz="1200" dirty="0"/>
              <a:t>Honesty and transparency — MCAS was hidden from pilots, and the FAA was not informed when Boeing significantly expanded MCAS authority late in development.</a:t>
            </a:r>
          </a:p>
          <a:p>
            <a:r>
              <a:rPr lang="en-US" sz="1200" dirty="0"/>
              <a:t>Whistleblower duty — Internal concerns from engineers and test pilots reportedly did not reach leadership, and there's no evidence the organization created a safe channel for them to do so.</a:t>
            </a:r>
          </a:p>
          <a:p>
            <a:endParaRPr lang="en-US" sz="1200" dirty="0"/>
          </a:p>
          <a:p>
            <a:r>
              <a:rPr lang="en-US" sz="1200" dirty="0"/>
              <a:t>On the right, "What the Code Demands":</a:t>
            </a:r>
          </a:p>
          <a:p>
            <a:r>
              <a:rPr lang="en-US" sz="1200" dirty="0"/>
              <a:t>Safety-critical software must be treated as such — single-sensor inputs with unchecked authority over flight controls require a full hazard analysis and safety review, not a software patch.</a:t>
            </a:r>
          </a:p>
          <a:p>
            <a:r>
              <a:rPr lang="en-US" sz="1200" dirty="0"/>
              <a:t>Disclose, don't disguise — If a system can override pilots, pilots must be trained on it. Full stop. That's the code. Boeing broke it.</a:t>
            </a:r>
          </a:p>
          <a:p>
            <a:r>
              <a:rPr lang="en-US" sz="1200" dirty="0"/>
              <a:t>Independent oversight must be genuine — Regulators cannot delegate the review of catastrophic-class hazards back to the organization being regulated. The certification structure itself was a conflict of interest.</a:t>
            </a:r>
          </a:p>
          <a:p>
            <a:endParaRPr lang="en-US" sz="1200" dirty="0"/>
          </a:p>
          <a:p>
            <a:r>
              <a:rPr lang="en-US" sz="1200" dirty="0"/>
              <a:t>If anyone asks about the whistleblower angle — there were engineers at Boeing who raised concerns. The system failed them, and that failure is also an ethics failure, at the organizational level.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The opening line sets the tone: every failure on this slide is a problem we've practiced solving — just at engineering scale, with lives in the balance. Use that framing to connect lab work to professional responsibility.</a:t>
            </a:r>
          </a:p>
          <a:p>
            <a:endParaRPr lang="en-US" sz="1200" dirty="0"/>
          </a:p>
          <a:p>
            <a:r>
              <a:rPr lang="en-US" sz="1200" dirty="0"/>
              <a:t>Walk through the four rows one at a time:</a:t>
            </a:r>
          </a:p>
          <a:p>
            <a:endParaRPr lang="en-US" sz="1200" dirty="0"/>
          </a:p>
          <a:p>
            <a:r>
              <a:rPr lang="en-US" sz="1200" dirty="0"/>
              <a:t>Data collection and sensor input — In lab we measure physical quantities and question our instrumentation. MCAS did the opposite: it trusted a single sensor without verification. Ask the room: how many of us would submit a lab report based on one uncalibrated reading with no backup? That's what this system did.</a:t>
            </a:r>
          </a:p>
          <a:p>
            <a:endParaRPr lang="en-US" sz="1200" dirty="0"/>
          </a:p>
          <a:p>
            <a:r>
              <a:rPr lang="en-US" sz="1200" dirty="0"/>
              <a:t>Errors and uncertainty in measurement — We propagate uncertainty in every lab report. We know sensors drift, fail, and give anomalous readings. Safety-critical systems must be designed for that reality — not around it. The AOA sensor that triggered both crashes had a known failure mode.</a:t>
            </a:r>
          </a:p>
          <a:p>
            <a:endParaRPr lang="en-US" sz="1200" dirty="0"/>
          </a:p>
          <a:p>
            <a:r>
              <a:rPr lang="en-US" sz="1200" dirty="0"/>
              <a:t>System characterization — When we run experiments, we characterize the full behavior of the system, not just the nominal case. Boeing knew the 737 MAX had an aerodynamic pitch-up tendency with the new engines. They characterized it, then patched it in software and called it solved. The physical behavior was never eliminated.</a:t>
            </a:r>
          </a:p>
          <a:p>
            <a:endParaRPr lang="en-US" sz="1200" dirty="0"/>
          </a:p>
          <a:p>
            <a:r>
              <a:rPr lang="en-US" sz="1200" dirty="0"/>
              <a:t>Presenting and communicating data — Engineers at Boeing documented the MCAS risks internally. That documentation existed. But it never reached the people who needed it — pilots, airlines, the FAA. In our labs, a result that stays in a notebook and doesn't get communicated is not a result. Same principle applies here.</a:t>
            </a:r>
          </a:p>
          <a:p>
            <a:endParaRPr lang="en-US" sz="1200" dirty="0"/>
          </a:p>
          <a:p>
            <a:r>
              <a:rPr lang="en-US" sz="1200" dirty="0"/>
              <a:t>Close by returning to the opening line: these aren't abstract ethical concepts. They're engineering fundamentals. The difference is consequence.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Let the numbers land before you say anything. 346 people. Two crashes, five months apart. The same cause, both times.</a:t>
            </a:r>
          </a:p>
          <a:p>
            <a:endParaRPr lang="en-US" sz="1200" dirty="0"/>
          </a:p>
          <a:p>
            <a:r>
              <a:rPr lang="en-US" sz="1200" dirty="0"/>
              <a:t>The three statistics frame the scale:</a:t>
            </a:r>
          </a:p>
          <a:p>
            <a:r>
              <a:rPr lang="en-US" sz="1200" dirty="0"/>
              <a:t>346 lives lost — Lion Air Flight 610 in October 2018, and Ethiopian Airlines Flight 302 in March 2019. Both crashed within minutes of takeoff, both caused by a malfunctioning AOA sensor triggering MCAS.</a:t>
            </a:r>
          </a:p>
          <a:p>
            <a:r>
              <a:rPr lang="en-US" sz="1200" dirty="0"/>
              <a:t>20 months of global grounding — The 737 MAX was grounded by aviation authorities worldwide from March 2019 to November 2020. No other commercial aircraft in modern history has been grounded for that long. It cost Boeing billions in compensation to airlines and killed the production line.</a:t>
            </a:r>
          </a:p>
          <a:p>
            <a:r>
              <a:rPr lang="en-US" sz="1200" dirty="0"/>
              <a:t>2.5 billion dollars-plus in DOJ settlements and fines — In 2021, Boeing entered a deferred prosecution agreement, admitting its employees had deceived the FAA. In 2024, Boeing agreed to plead guilty to conspiracy to defraud the United States after the DOJ found the company violated the terms of that agreement.</a:t>
            </a:r>
          </a:p>
          <a:p>
            <a:endParaRPr lang="en-US" sz="1200" dirty="0"/>
          </a:p>
          <a:p>
            <a:r>
              <a:rPr lang="en-US" sz="1200" dirty="0"/>
              <a:t>Our assessment in the bottom panel is key: this was not a single bad actor. It was the predictable output of a system. A system that rewarded speed over safety. That used software to disguise a hardware compromise. That let the regulated party set the boundaries of its own regulation.</a:t>
            </a:r>
          </a:p>
          <a:p>
            <a:endParaRPr lang="en-US" sz="1200" dirty="0"/>
          </a:p>
          <a:p>
            <a:r>
              <a:rPr lang="en-US" sz="1200" dirty="0"/>
              <a:t>The final italicized line is worth reading aloud: "Ethics is not a final-stage compliance check. It's a load-bearing element of every design decision we make." That's the frame for the next slide.</a:t>
            </a:r>
          </a:p>
          <a:p>
            <a:endParaRPr lang="en-US" sz="1200" dirty="0"/>
          </a:p>
          <a:p>
            <a:r>
              <a:rPr lang="en-US" sz="1200" dirty="0"/>
              <a:t>If there are questions about the criminal proceedings — Boeing's 2024 guilty plea to conspiracy to defraud the FAA is accurate and worth noting. It's one of the only times a major aerospace company has faced criminal prosecution, not just civil liability.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Close with the headline: "Engineering ethics is engineering." That's not a motivational poster. It's a technical claim. The same discipline that goes into selecting a sensor, propagating uncertainty, and characterizing a system's behavior also governs whether you disclose what you find, whether you escalate when something is wrong, and whether you let commercial pressure override safety.</a:t>
            </a:r>
          </a:p>
          <a:p>
            <a:endParaRPr lang="en-US" sz="1200" dirty="0"/>
          </a:p>
          <a:p>
            <a:r>
              <a:rPr lang="en-US" sz="1200" dirty="0"/>
              <a:t>Walk the four takeaways deliberately — don't rush them:</a:t>
            </a:r>
          </a:p>
          <a:p>
            <a:endParaRPr lang="en-US" sz="1200" dirty="0"/>
          </a:p>
          <a:p>
            <a:r>
              <a:rPr lang="en-US" sz="1200" dirty="0"/>
              <a:t>Safety-critical systems demand sensor redundancy and fail-safe behavior — always. This is not aspirational. In aerospace, in medical devices, in automotive control systems — this is the baseline. Boeing chose not to apply it to save money and avoid certification delays.</a:t>
            </a:r>
          </a:p>
          <a:p>
            <a:endParaRPr lang="en-US" sz="1200" dirty="0"/>
          </a:p>
          <a:p>
            <a:r>
              <a:rPr lang="en-US" sz="1200" dirty="0"/>
              <a:t>If a design choice depends on hiding information from end users, that's the warning sign. This is a useful heuristic for any engineering context. If your design requires that someone doesn't know something in order to function as intended — stop. That's not a design constraint, that's a red flag.</a:t>
            </a:r>
          </a:p>
          <a:p>
            <a:endParaRPr lang="en-US" sz="1200" dirty="0"/>
          </a:p>
          <a:p>
            <a:r>
              <a:rPr lang="en-US" sz="1200" dirty="0"/>
              <a:t>Cost, schedule, and competition are real — but they live below public safety in the priority stack. Acknowledge that these pressures exist. They will exist in every job you take. The code doesn't pretend otherwise. It just tells you where they rank.</a:t>
            </a:r>
          </a:p>
          <a:p>
            <a:endParaRPr lang="en-US" sz="1200" dirty="0"/>
          </a:p>
          <a:p>
            <a:r>
              <a:rPr lang="en-US" sz="1200" dirty="0"/>
              <a:t>Engineers have a duty to escalate; organizations have a duty to listen. Both sides of this matter. Boeing engineers who raised concerns failed because the organization wasn't structured to hear them. When you're in that position — and you will be — document it, escalate it formally, and know the code has your back.</a:t>
            </a:r>
          </a:p>
          <a:p>
            <a:endParaRPr lang="en-US" sz="1200" dirty="0"/>
          </a:p>
          <a:p>
            <a:r>
              <a:rPr lang="en-US" sz="1200" dirty="0"/>
              <a:t>Pause before opening for questions. Let the closing line sit. "Engineering ethics is engineering." Then open the floor.</a:t>
            </a:r>
          </a:p>
          <a:p>
            <a:endParaRPr lang="en-US" sz="1200" dirty="0"/>
          </a:p>
          <a:p>
            <a:r>
              <a:rPr lang="en-US" sz="1200" dirty="0"/>
              <a:t>Suggested discussion prompts if the room is quiet:</a:t>
            </a:r>
          </a:p>
          <a:p>
            <a:r>
              <a:rPr lang="en-US" sz="1200" dirty="0"/>
              <a:t>What would you have done if you were the engineer who wrote the MCAS hazard analysis?</a:t>
            </a:r>
          </a:p>
          <a:p>
            <a:r>
              <a:rPr lang="en-US" sz="1200" dirty="0"/>
              <a:t>At what point does a design tradeoff become an ethical violation?</a:t>
            </a:r>
          </a:p>
          <a:p>
            <a:r>
              <a:rPr lang="en-US" sz="1200" dirty="0"/>
              <a:t>Who in this story had the clearest opportunity to stop it — and why didn't they?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82E"/>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F4A300"/>
          </a:solidFill>
          <a:ln w="12700">
            <a:solidFill>
              <a:srgbClr val="F4A300"/>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731520" y="640080"/>
            <a:ext cx="640080" cy="640080"/>
          </a:xfrm>
          <a:prstGeom prst="rect">
            <a:avLst/>
          </a:prstGeom>
        </p:spPr>
      </p:pic>
      <p:sp>
        <p:nvSpPr>
          <p:cNvPr id="4" name="Text 1"/>
          <p:cNvSpPr/>
          <p:nvPr/>
        </p:nvSpPr>
        <p:spPr>
          <a:xfrm>
            <a:off x="731520" y="1417320"/>
            <a:ext cx="7315200" cy="320040"/>
          </a:xfrm>
          <a:prstGeom prst="rect">
            <a:avLst/>
          </a:prstGeom>
          <a:noFill/>
          <a:ln/>
        </p:spPr>
        <p:txBody>
          <a:bodyPr wrap="square" lIns="0" tIns="0" rIns="0" bIns="0" rtlCol="0" anchor="ctr"/>
          <a:lstStyle/>
          <a:p>
            <a:pPr marL="0" indent="0">
              <a:buNone/>
            </a:pPr>
            <a:r>
              <a:rPr lang="en-US" sz="1300" b="1" kern="0" spc="600" dirty="0">
                <a:solidFill>
                  <a:srgbClr val="F4A300"/>
                </a:solidFill>
                <a:latin typeface="Calibri" pitchFamily="34" charset="0"/>
                <a:ea typeface="Calibri" pitchFamily="34" charset="-122"/>
                <a:cs typeface="Calibri" pitchFamily="34" charset="-120"/>
              </a:rPr>
              <a:t>CASE STUDY · ENGINEERING ETHICS</a:t>
            </a:r>
            <a:endParaRPr lang="en-US" sz="1300" dirty="0"/>
          </a:p>
        </p:txBody>
      </p:sp>
      <p:sp>
        <p:nvSpPr>
          <p:cNvPr id="5" name="Text 2"/>
          <p:cNvSpPr/>
          <p:nvPr/>
        </p:nvSpPr>
        <p:spPr>
          <a:xfrm>
            <a:off x="731520" y="1783080"/>
            <a:ext cx="8046720" cy="868680"/>
          </a:xfrm>
          <a:prstGeom prst="rect">
            <a:avLst/>
          </a:prstGeom>
          <a:noFill/>
          <a:ln/>
        </p:spPr>
        <p:txBody>
          <a:bodyPr wrap="square" lIns="0" tIns="0" rIns="0" bIns="0" rtlCol="0" anchor="ctr"/>
          <a:lstStyle/>
          <a:p>
            <a:pPr marL="0" indent="0">
              <a:buNone/>
            </a:pPr>
            <a:r>
              <a:rPr lang="en-US" sz="4400" b="1" dirty="0">
                <a:solidFill>
                  <a:srgbClr val="FFFFFF"/>
                </a:solidFill>
                <a:latin typeface="Georgia" pitchFamily="34" charset="0"/>
                <a:ea typeface="Georgia" pitchFamily="34" charset="-122"/>
                <a:cs typeface="Georgia" pitchFamily="34" charset="-120"/>
              </a:rPr>
              <a:t>The Boeing 737 MAX</a:t>
            </a:r>
            <a:endParaRPr lang="en-US" sz="4400" dirty="0"/>
          </a:p>
        </p:txBody>
      </p:sp>
      <p:sp>
        <p:nvSpPr>
          <p:cNvPr id="6" name="Text 3"/>
          <p:cNvSpPr/>
          <p:nvPr/>
        </p:nvSpPr>
        <p:spPr>
          <a:xfrm>
            <a:off x="731520" y="2788920"/>
            <a:ext cx="7772400" cy="822960"/>
          </a:xfrm>
          <a:prstGeom prst="rect">
            <a:avLst/>
          </a:prstGeom>
          <a:noFill/>
          <a:ln/>
        </p:spPr>
        <p:txBody>
          <a:bodyPr wrap="square" lIns="0" tIns="0" rIns="0" bIns="0" rtlCol="0" anchor="ctr"/>
          <a:lstStyle/>
          <a:p>
            <a:pPr marL="0" indent="0">
              <a:buNone/>
            </a:pPr>
            <a:r>
              <a:rPr lang="en-US" sz="1600" i="1" dirty="0">
                <a:solidFill>
                  <a:srgbClr val="8DA9C4"/>
                </a:solidFill>
                <a:latin typeface="Calibri" pitchFamily="34" charset="0"/>
                <a:ea typeface="Calibri" pitchFamily="34" charset="-122"/>
                <a:cs typeface="Calibri" pitchFamily="34" charset="-120"/>
              </a:rPr>
              <a:t>How a hidden flight-control system, certification shortcuts, and a culture of cost pressure led to 346 deaths.</a:t>
            </a:r>
            <a:endParaRPr lang="en-US" sz="1600" dirty="0"/>
          </a:p>
        </p:txBody>
      </p:sp>
      <p:sp>
        <p:nvSpPr>
          <p:cNvPr id="7" name="Shape 4"/>
          <p:cNvSpPr/>
          <p:nvPr/>
        </p:nvSpPr>
        <p:spPr>
          <a:xfrm>
            <a:off x="731520" y="3703320"/>
            <a:ext cx="1097280" cy="36576"/>
          </a:xfrm>
          <a:prstGeom prst="rect">
            <a:avLst/>
          </a:prstGeom>
          <a:solidFill>
            <a:srgbClr val="F4A300"/>
          </a:solidFill>
          <a:ln w="12700">
            <a:solidFill>
              <a:srgbClr val="F4A300"/>
            </a:solidFill>
            <a:prstDash val="solid"/>
          </a:ln>
        </p:spPr>
        <p:txBody>
          <a:bodyPr/>
          <a:lstStyle/>
          <a:p>
            <a:endParaRPr lang="en-US"/>
          </a:p>
        </p:txBody>
      </p:sp>
      <p:sp>
        <p:nvSpPr>
          <p:cNvPr id="8" name="Text 5"/>
          <p:cNvSpPr/>
          <p:nvPr/>
        </p:nvSpPr>
        <p:spPr>
          <a:xfrm>
            <a:off x="731520" y="3840480"/>
            <a:ext cx="7315200" cy="274320"/>
          </a:xfrm>
          <a:prstGeom prst="rect">
            <a:avLst/>
          </a:prstGeom>
          <a:noFill/>
          <a:ln/>
        </p:spPr>
        <p:txBody>
          <a:bodyPr wrap="square" lIns="0" tIns="0" rIns="0" bIns="0" rtlCol="0" anchor="ctr"/>
          <a:lstStyle/>
          <a:p>
            <a:pPr marL="0" indent="0">
              <a:buNone/>
            </a:pPr>
            <a:r>
              <a:rPr lang="en-US" sz="1200" dirty="0">
                <a:solidFill>
                  <a:srgbClr val="8DA9C4"/>
                </a:solidFill>
                <a:latin typeface="Calibri" pitchFamily="34" charset="0"/>
                <a:ea typeface="Calibri" pitchFamily="34" charset="-122"/>
                <a:cs typeface="Calibri" pitchFamily="34" charset="-120"/>
              </a:rPr>
              <a:t>Trinity College  ·  Engineering Lab  ·  Final Ethics Presentation</a:t>
            </a:r>
            <a:endParaRPr lang="en-US" sz="1200" dirty="0"/>
          </a:p>
        </p:txBody>
      </p:sp>
    </p:spTree>
    <p:extLst>
      <p:ext uri="{BB962C8B-B14F-4D97-AF65-F5344CB8AC3E}">
        <p14:creationId xmlns:p14="http://schemas.microsoft.com/office/powerpoint/2010/main" val="25846830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EF4ED"/>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228600"/>
          </a:xfrm>
          <a:prstGeom prst="rect">
            <a:avLst/>
          </a:prstGeom>
          <a:noFill/>
          <a:ln/>
        </p:spPr>
        <p:txBody>
          <a:bodyPr wrap="square" lIns="0" tIns="0" rIns="0" bIns="0" rtlCol="0" anchor="ctr"/>
          <a:lstStyle/>
          <a:p>
            <a:pPr marL="0" indent="0">
              <a:buNone/>
            </a:pPr>
            <a:r>
              <a:rPr lang="en-US" sz="1100" b="1" kern="0" spc="400" dirty="0">
                <a:solidFill>
                  <a:srgbClr val="F4A300"/>
                </a:solidFill>
                <a:latin typeface="Calibri" pitchFamily="34" charset="0"/>
                <a:ea typeface="Calibri" pitchFamily="34" charset="-122"/>
                <a:cs typeface="Calibri" pitchFamily="34" charset="-120"/>
              </a:rPr>
              <a:t>ROADMAP</a:t>
            </a:r>
            <a:endParaRPr lang="en-US" sz="1100" dirty="0"/>
          </a:p>
        </p:txBody>
      </p:sp>
      <p:sp>
        <p:nvSpPr>
          <p:cNvPr id="3" name="Text 1"/>
          <p:cNvSpPr/>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0B2545"/>
                </a:solidFill>
                <a:latin typeface="Georgia" pitchFamily="34" charset="0"/>
                <a:ea typeface="Georgia" pitchFamily="34" charset="-122"/>
                <a:cs typeface="Georgia" pitchFamily="34" charset="-120"/>
              </a:rPr>
              <a:t>Where we're headed</a:t>
            </a:r>
            <a:endParaRPr lang="en-US" sz="2800" dirty="0"/>
          </a:p>
        </p:txBody>
      </p:sp>
      <p:sp>
        <p:nvSpPr>
          <p:cNvPr id="4" name="Shape 2"/>
          <p:cNvSpPr/>
          <p:nvPr/>
        </p:nvSpPr>
        <p:spPr>
          <a:xfrm>
            <a:off x="457200" y="1325880"/>
            <a:ext cx="2743200" cy="1051560"/>
          </a:xfrm>
          <a:prstGeom prst="rect">
            <a:avLst/>
          </a:prstGeom>
          <a:solidFill>
            <a:srgbClr val="FFFFFF"/>
          </a:solidFill>
          <a:ln w="9525">
            <a:solidFill>
              <a:srgbClr val="D6DCE4"/>
            </a:solidFill>
            <a:prstDash val="solid"/>
          </a:ln>
          <a:effectLst>
            <a:outerShdw blurRad="101600" dist="25400" dir="5400000" algn="bl" rotWithShape="0">
              <a:srgbClr val="000000">
                <a:alpha val="6000"/>
              </a:srgbClr>
            </a:outerShdw>
          </a:effectLst>
        </p:spPr>
        <p:txBody>
          <a:bodyPr/>
          <a:lstStyle/>
          <a:p>
            <a:endParaRPr lang="en-US"/>
          </a:p>
        </p:txBody>
      </p:sp>
      <p:sp>
        <p:nvSpPr>
          <p:cNvPr id="5" name="Shape 3"/>
          <p:cNvSpPr/>
          <p:nvPr/>
        </p:nvSpPr>
        <p:spPr>
          <a:xfrm>
            <a:off x="457200" y="1325880"/>
            <a:ext cx="73152" cy="1051560"/>
          </a:xfrm>
          <a:prstGeom prst="rect">
            <a:avLst/>
          </a:prstGeom>
          <a:solidFill>
            <a:srgbClr val="F4A300"/>
          </a:solidFill>
          <a:ln w="12700">
            <a:solidFill>
              <a:srgbClr val="F4A30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685800" y="1527048"/>
            <a:ext cx="365760" cy="365760"/>
          </a:xfrm>
          <a:prstGeom prst="rect">
            <a:avLst/>
          </a:prstGeom>
        </p:spPr>
      </p:pic>
      <p:sp>
        <p:nvSpPr>
          <p:cNvPr id="7" name="Text 4"/>
          <p:cNvSpPr/>
          <p:nvPr/>
        </p:nvSpPr>
        <p:spPr>
          <a:xfrm>
            <a:off x="2697480" y="1435608"/>
            <a:ext cx="365760" cy="274320"/>
          </a:xfrm>
          <a:prstGeom prst="rect">
            <a:avLst/>
          </a:prstGeom>
          <a:noFill/>
          <a:ln/>
        </p:spPr>
        <p:txBody>
          <a:bodyPr wrap="square" lIns="0" tIns="0" rIns="0" bIns="0" rtlCol="0" anchor="ctr"/>
          <a:lstStyle/>
          <a:p>
            <a:pPr marL="0" indent="0" algn="r">
              <a:buNone/>
            </a:pPr>
            <a:r>
              <a:rPr lang="en-US" sz="1100" b="1" dirty="0">
                <a:solidFill>
                  <a:srgbClr val="8DA9C4"/>
                </a:solidFill>
                <a:latin typeface="Calibri" pitchFamily="34" charset="0"/>
                <a:ea typeface="Calibri" pitchFamily="34" charset="-122"/>
                <a:cs typeface="Calibri" pitchFamily="34" charset="-120"/>
              </a:rPr>
              <a:t>01</a:t>
            </a:r>
            <a:endParaRPr lang="en-US" sz="1100" dirty="0"/>
          </a:p>
        </p:txBody>
      </p:sp>
      <p:sp>
        <p:nvSpPr>
          <p:cNvPr id="8" name="Text 5"/>
          <p:cNvSpPr/>
          <p:nvPr/>
        </p:nvSpPr>
        <p:spPr>
          <a:xfrm>
            <a:off x="1143000" y="1508760"/>
            <a:ext cx="1554480" cy="320040"/>
          </a:xfrm>
          <a:prstGeom prst="rect">
            <a:avLst/>
          </a:prstGeom>
          <a:noFill/>
          <a:ln/>
        </p:spPr>
        <p:txBody>
          <a:bodyPr wrap="square" lIns="0" tIns="0" rIns="0" bIns="0" rtlCol="0" anchor="ctr"/>
          <a:lstStyle/>
          <a:p>
            <a:pPr marL="0" indent="0">
              <a:buNone/>
            </a:pPr>
            <a:r>
              <a:rPr lang="en-US" sz="1400" b="1" dirty="0">
                <a:solidFill>
                  <a:srgbClr val="0B2545"/>
                </a:solidFill>
                <a:latin typeface="Georgia" pitchFamily="34" charset="0"/>
                <a:ea typeface="Georgia" pitchFamily="34" charset="-122"/>
                <a:cs typeface="Georgia" pitchFamily="34" charset="-120"/>
              </a:rPr>
              <a:t>Background</a:t>
            </a:r>
            <a:endParaRPr lang="en-US" sz="1400" dirty="0"/>
          </a:p>
        </p:txBody>
      </p:sp>
      <p:sp>
        <p:nvSpPr>
          <p:cNvPr id="9" name="Text 6"/>
          <p:cNvSpPr/>
          <p:nvPr/>
        </p:nvSpPr>
        <p:spPr>
          <a:xfrm>
            <a:off x="1143000" y="1856232"/>
            <a:ext cx="1920240" cy="45720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The MAX program &amp; competitive pressure</a:t>
            </a:r>
            <a:endParaRPr lang="en-US" sz="1100" dirty="0"/>
          </a:p>
        </p:txBody>
      </p:sp>
      <p:sp>
        <p:nvSpPr>
          <p:cNvPr id="10" name="Shape 7"/>
          <p:cNvSpPr/>
          <p:nvPr/>
        </p:nvSpPr>
        <p:spPr>
          <a:xfrm>
            <a:off x="3337560" y="1325880"/>
            <a:ext cx="2743200" cy="1051560"/>
          </a:xfrm>
          <a:prstGeom prst="rect">
            <a:avLst/>
          </a:prstGeom>
          <a:solidFill>
            <a:srgbClr val="FFFFFF"/>
          </a:solidFill>
          <a:ln w="9525">
            <a:solidFill>
              <a:srgbClr val="D6DCE4"/>
            </a:solidFill>
            <a:prstDash val="solid"/>
          </a:ln>
          <a:effectLst>
            <a:outerShdw blurRad="101600" dist="25400" dir="5400000" algn="bl" rotWithShape="0">
              <a:srgbClr val="000000">
                <a:alpha val="6000"/>
              </a:srgbClr>
            </a:outerShdw>
          </a:effectLst>
        </p:spPr>
        <p:txBody>
          <a:bodyPr/>
          <a:lstStyle/>
          <a:p>
            <a:endParaRPr lang="en-US"/>
          </a:p>
        </p:txBody>
      </p:sp>
      <p:sp>
        <p:nvSpPr>
          <p:cNvPr id="11" name="Shape 8"/>
          <p:cNvSpPr/>
          <p:nvPr/>
        </p:nvSpPr>
        <p:spPr>
          <a:xfrm>
            <a:off x="3337560" y="1325880"/>
            <a:ext cx="73152" cy="1051560"/>
          </a:xfrm>
          <a:prstGeom prst="rect">
            <a:avLst/>
          </a:prstGeom>
          <a:solidFill>
            <a:srgbClr val="F4A300"/>
          </a:solidFill>
          <a:ln w="12700">
            <a:solidFill>
              <a:srgbClr val="F4A300"/>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3566160" y="1527048"/>
            <a:ext cx="365760" cy="365760"/>
          </a:xfrm>
          <a:prstGeom prst="rect">
            <a:avLst/>
          </a:prstGeom>
        </p:spPr>
      </p:pic>
      <p:sp>
        <p:nvSpPr>
          <p:cNvPr id="13" name="Text 9"/>
          <p:cNvSpPr/>
          <p:nvPr/>
        </p:nvSpPr>
        <p:spPr>
          <a:xfrm>
            <a:off x="5577840" y="1435608"/>
            <a:ext cx="365760" cy="274320"/>
          </a:xfrm>
          <a:prstGeom prst="rect">
            <a:avLst/>
          </a:prstGeom>
          <a:noFill/>
          <a:ln/>
        </p:spPr>
        <p:txBody>
          <a:bodyPr wrap="square" lIns="0" tIns="0" rIns="0" bIns="0" rtlCol="0" anchor="ctr"/>
          <a:lstStyle/>
          <a:p>
            <a:pPr marL="0" indent="0" algn="r">
              <a:buNone/>
            </a:pPr>
            <a:r>
              <a:rPr lang="en-US" sz="1100" b="1" dirty="0">
                <a:solidFill>
                  <a:srgbClr val="8DA9C4"/>
                </a:solidFill>
                <a:latin typeface="Calibri" pitchFamily="34" charset="0"/>
                <a:ea typeface="Calibri" pitchFamily="34" charset="-122"/>
                <a:cs typeface="Calibri" pitchFamily="34" charset="-120"/>
              </a:rPr>
              <a:t>02</a:t>
            </a:r>
            <a:endParaRPr lang="en-US" sz="1100" dirty="0"/>
          </a:p>
        </p:txBody>
      </p:sp>
      <p:sp>
        <p:nvSpPr>
          <p:cNvPr id="14" name="Text 10"/>
          <p:cNvSpPr/>
          <p:nvPr/>
        </p:nvSpPr>
        <p:spPr>
          <a:xfrm>
            <a:off x="4023360" y="1508760"/>
            <a:ext cx="1554480" cy="320040"/>
          </a:xfrm>
          <a:prstGeom prst="rect">
            <a:avLst/>
          </a:prstGeom>
          <a:noFill/>
          <a:ln/>
        </p:spPr>
        <p:txBody>
          <a:bodyPr wrap="square" lIns="0" tIns="0" rIns="0" bIns="0" rtlCol="0" anchor="ctr"/>
          <a:lstStyle/>
          <a:p>
            <a:pPr marL="0" indent="0">
              <a:buNone/>
            </a:pPr>
            <a:r>
              <a:rPr lang="en-US" sz="1400" b="1" dirty="0">
                <a:solidFill>
                  <a:srgbClr val="0B2545"/>
                </a:solidFill>
                <a:latin typeface="Georgia" pitchFamily="34" charset="0"/>
                <a:ea typeface="Georgia" pitchFamily="34" charset="-122"/>
                <a:cs typeface="Georgia" pitchFamily="34" charset="-120"/>
              </a:rPr>
              <a:t>MCAS Explained</a:t>
            </a:r>
            <a:endParaRPr lang="en-US" sz="1400" dirty="0"/>
          </a:p>
        </p:txBody>
      </p:sp>
      <p:sp>
        <p:nvSpPr>
          <p:cNvPr id="15" name="Text 11"/>
          <p:cNvSpPr/>
          <p:nvPr/>
        </p:nvSpPr>
        <p:spPr>
          <a:xfrm>
            <a:off x="4023360" y="1856232"/>
            <a:ext cx="1920240" cy="45720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What the system did and why it existed</a:t>
            </a:r>
            <a:endParaRPr lang="en-US" sz="1100" dirty="0"/>
          </a:p>
        </p:txBody>
      </p:sp>
      <p:sp>
        <p:nvSpPr>
          <p:cNvPr id="16" name="Shape 12"/>
          <p:cNvSpPr/>
          <p:nvPr/>
        </p:nvSpPr>
        <p:spPr>
          <a:xfrm>
            <a:off x="6217920" y="1325880"/>
            <a:ext cx="2743200" cy="1051560"/>
          </a:xfrm>
          <a:prstGeom prst="rect">
            <a:avLst/>
          </a:prstGeom>
          <a:solidFill>
            <a:srgbClr val="FFFFFF"/>
          </a:solidFill>
          <a:ln w="9525">
            <a:solidFill>
              <a:srgbClr val="D6DCE4"/>
            </a:solidFill>
            <a:prstDash val="solid"/>
          </a:ln>
          <a:effectLst>
            <a:outerShdw blurRad="101600" dist="25400" dir="5400000" algn="bl" rotWithShape="0">
              <a:srgbClr val="000000">
                <a:alpha val="6000"/>
              </a:srgbClr>
            </a:outerShdw>
          </a:effectLst>
        </p:spPr>
        <p:txBody>
          <a:bodyPr/>
          <a:lstStyle/>
          <a:p>
            <a:endParaRPr lang="en-US"/>
          </a:p>
        </p:txBody>
      </p:sp>
      <p:sp>
        <p:nvSpPr>
          <p:cNvPr id="17" name="Shape 13"/>
          <p:cNvSpPr/>
          <p:nvPr/>
        </p:nvSpPr>
        <p:spPr>
          <a:xfrm>
            <a:off x="6217920" y="1325880"/>
            <a:ext cx="73152" cy="1051560"/>
          </a:xfrm>
          <a:prstGeom prst="rect">
            <a:avLst/>
          </a:prstGeom>
          <a:solidFill>
            <a:srgbClr val="F4A300"/>
          </a:solidFill>
          <a:ln w="12700">
            <a:solidFill>
              <a:srgbClr val="F4A300"/>
            </a:solidFill>
            <a:prstDash val="solid"/>
          </a:ln>
        </p:spPr>
        <p:txBody>
          <a:bodyPr/>
          <a:lstStyle/>
          <a:p>
            <a:endParaRPr lang="en-US"/>
          </a:p>
        </p:txBody>
      </p:sp>
      <p:pic>
        <p:nvPicPr>
          <p:cNvPr id="18" name="Image 2" descr="preencoded.png"/>
          <p:cNvPicPr>
            <a:picLocks noChangeAspect="1"/>
          </p:cNvPicPr>
          <p:nvPr/>
        </p:nvPicPr>
        <p:blipFill>
          <a:blip r:embed="rId5"/>
          <a:stretch>
            <a:fillRect/>
          </a:stretch>
        </p:blipFill>
        <p:spPr>
          <a:xfrm>
            <a:off x="6446520" y="1527048"/>
            <a:ext cx="365760" cy="365760"/>
          </a:xfrm>
          <a:prstGeom prst="rect">
            <a:avLst/>
          </a:prstGeom>
        </p:spPr>
      </p:pic>
      <p:sp>
        <p:nvSpPr>
          <p:cNvPr id="19" name="Text 14"/>
          <p:cNvSpPr/>
          <p:nvPr/>
        </p:nvSpPr>
        <p:spPr>
          <a:xfrm>
            <a:off x="8458200" y="1435608"/>
            <a:ext cx="365760" cy="274320"/>
          </a:xfrm>
          <a:prstGeom prst="rect">
            <a:avLst/>
          </a:prstGeom>
          <a:noFill/>
          <a:ln/>
        </p:spPr>
        <p:txBody>
          <a:bodyPr wrap="square" lIns="0" tIns="0" rIns="0" bIns="0" rtlCol="0" anchor="ctr"/>
          <a:lstStyle/>
          <a:p>
            <a:pPr marL="0" indent="0" algn="r">
              <a:buNone/>
            </a:pPr>
            <a:r>
              <a:rPr lang="en-US" sz="1100" b="1" dirty="0">
                <a:solidFill>
                  <a:srgbClr val="8DA9C4"/>
                </a:solidFill>
                <a:latin typeface="Calibri" pitchFamily="34" charset="0"/>
                <a:ea typeface="Calibri" pitchFamily="34" charset="-122"/>
                <a:cs typeface="Calibri" pitchFamily="34" charset="-120"/>
              </a:rPr>
              <a:t>03</a:t>
            </a:r>
            <a:endParaRPr lang="en-US" sz="1100" dirty="0"/>
          </a:p>
        </p:txBody>
      </p:sp>
      <p:sp>
        <p:nvSpPr>
          <p:cNvPr id="20" name="Text 15"/>
          <p:cNvSpPr/>
          <p:nvPr/>
        </p:nvSpPr>
        <p:spPr>
          <a:xfrm>
            <a:off x="6903720" y="1508760"/>
            <a:ext cx="1554480" cy="320040"/>
          </a:xfrm>
          <a:prstGeom prst="rect">
            <a:avLst/>
          </a:prstGeom>
          <a:noFill/>
          <a:ln/>
        </p:spPr>
        <p:txBody>
          <a:bodyPr wrap="square" lIns="0" tIns="0" rIns="0" bIns="0" rtlCol="0" anchor="ctr"/>
          <a:lstStyle/>
          <a:p>
            <a:pPr marL="0" indent="0">
              <a:buNone/>
            </a:pPr>
            <a:r>
              <a:rPr lang="en-US" sz="1400" b="1" dirty="0">
                <a:solidFill>
                  <a:srgbClr val="0B2545"/>
                </a:solidFill>
                <a:latin typeface="Georgia" pitchFamily="34" charset="0"/>
                <a:ea typeface="Georgia" pitchFamily="34" charset="-122"/>
                <a:cs typeface="Georgia" pitchFamily="34" charset="-120"/>
              </a:rPr>
              <a:t>The Two Crashes</a:t>
            </a:r>
            <a:endParaRPr lang="en-US" sz="1400" dirty="0"/>
          </a:p>
        </p:txBody>
      </p:sp>
      <p:sp>
        <p:nvSpPr>
          <p:cNvPr id="21" name="Text 16"/>
          <p:cNvSpPr/>
          <p:nvPr/>
        </p:nvSpPr>
        <p:spPr>
          <a:xfrm>
            <a:off x="6903720" y="1856232"/>
            <a:ext cx="1920240" cy="45720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Lion Air 610 &amp; Ethiopian Airlines 302</a:t>
            </a:r>
            <a:endParaRPr lang="en-US" sz="1100" dirty="0"/>
          </a:p>
        </p:txBody>
      </p:sp>
      <p:sp>
        <p:nvSpPr>
          <p:cNvPr id="22" name="Shape 17"/>
          <p:cNvSpPr/>
          <p:nvPr/>
        </p:nvSpPr>
        <p:spPr>
          <a:xfrm>
            <a:off x="457200" y="2560320"/>
            <a:ext cx="2743200" cy="1051560"/>
          </a:xfrm>
          <a:prstGeom prst="rect">
            <a:avLst/>
          </a:prstGeom>
          <a:solidFill>
            <a:srgbClr val="FFFFFF"/>
          </a:solidFill>
          <a:ln w="9525">
            <a:solidFill>
              <a:srgbClr val="D6DCE4"/>
            </a:solidFill>
            <a:prstDash val="solid"/>
          </a:ln>
          <a:effectLst>
            <a:outerShdw blurRad="101600" dist="25400" dir="5400000" algn="bl" rotWithShape="0">
              <a:srgbClr val="000000">
                <a:alpha val="6000"/>
              </a:srgbClr>
            </a:outerShdw>
          </a:effectLst>
        </p:spPr>
        <p:txBody>
          <a:bodyPr/>
          <a:lstStyle/>
          <a:p>
            <a:endParaRPr lang="en-US"/>
          </a:p>
        </p:txBody>
      </p:sp>
      <p:sp>
        <p:nvSpPr>
          <p:cNvPr id="23" name="Shape 18"/>
          <p:cNvSpPr/>
          <p:nvPr/>
        </p:nvSpPr>
        <p:spPr>
          <a:xfrm>
            <a:off x="457200" y="2560320"/>
            <a:ext cx="73152" cy="1051560"/>
          </a:xfrm>
          <a:prstGeom prst="rect">
            <a:avLst/>
          </a:prstGeom>
          <a:solidFill>
            <a:srgbClr val="F4A300"/>
          </a:solidFill>
          <a:ln w="12700">
            <a:solidFill>
              <a:srgbClr val="F4A300"/>
            </a:solidFill>
            <a:prstDash val="solid"/>
          </a:ln>
        </p:spPr>
        <p:txBody>
          <a:bodyPr/>
          <a:lstStyle/>
          <a:p>
            <a:endParaRPr lang="en-US"/>
          </a:p>
        </p:txBody>
      </p:sp>
      <p:pic>
        <p:nvPicPr>
          <p:cNvPr id="24" name="Image 3" descr="preencoded.png"/>
          <p:cNvPicPr>
            <a:picLocks noChangeAspect="1"/>
          </p:cNvPicPr>
          <p:nvPr/>
        </p:nvPicPr>
        <p:blipFill>
          <a:blip r:embed="rId6"/>
          <a:stretch>
            <a:fillRect/>
          </a:stretch>
        </p:blipFill>
        <p:spPr>
          <a:xfrm>
            <a:off x="685800" y="2761488"/>
            <a:ext cx="365760" cy="365760"/>
          </a:xfrm>
          <a:prstGeom prst="rect">
            <a:avLst/>
          </a:prstGeom>
        </p:spPr>
      </p:pic>
      <p:sp>
        <p:nvSpPr>
          <p:cNvPr id="25" name="Text 19"/>
          <p:cNvSpPr/>
          <p:nvPr/>
        </p:nvSpPr>
        <p:spPr>
          <a:xfrm>
            <a:off x="2697480" y="2670048"/>
            <a:ext cx="365760" cy="274320"/>
          </a:xfrm>
          <a:prstGeom prst="rect">
            <a:avLst/>
          </a:prstGeom>
          <a:noFill/>
          <a:ln/>
        </p:spPr>
        <p:txBody>
          <a:bodyPr wrap="square" lIns="0" tIns="0" rIns="0" bIns="0" rtlCol="0" anchor="ctr"/>
          <a:lstStyle/>
          <a:p>
            <a:pPr marL="0" indent="0" algn="r">
              <a:buNone/>
            </a:pPr>
            <a:r>
              <a:rPr lang="en-US" sz="1100" b="1" dirty="0">
                <a:solidFill>
                  <a:srgbClr val="8DA9C4"/>
                </a:solidFill>
                <a:latin typeface="Calibri" pitchFamily="34" charset="0"/>
                <a:ea typeface="Calibri" pitchFamily="34" charset="-122"/>
                <a:cs typeface="Calibri" pitchFamily="34" charset="-120"/>
              </a:rPr>
              <a:t>04</a:t>
            </a:r>
            <a:endParaRPr lang="en-US" sz="1100" dirty="0"/>
          </a:p>
        </p:txBody>
      </p:sp>
      <p:sp>
        <p:nvSpPr>
          <p:cNvPr id="26" name="Text 20"/>
          <p:cNvSpPr/>
          <p:nvPr/>
        </p:nvSpPr>
        <p:spPr>
          <a:xfrm>
            <a:off x="1143000" y="2743200"/>
            <a:ext cx="1554480" cy="320040"/>
          </a:xfrm>
          <a:prstGeom prst="rect">
            <a:avLst/>
          </a:prstGeom>
          <a:noFill/>
          <a:ln/>
        </p:spPr>
        <p:txBody>
          <a:bodyPr wrap="square" lIns="0" tIns="0" rIns="0" bIns="0" rtlCol="0" anchor="ctr"/>
          <a:lstStyle/>
          <a:p>
            <a:pPr marL="0" indent="0">
              <a:buNone/>
            </a:pPr>
            <a:r>
              <a:rPr lang="en-US" sz="1400" b="1" dirty="0">
                <a:solidFill>
                  <a:srgbClr val="0B2545"/>
                </a:solidFill>
                <a:latin typeface="Georgia" pitchFamily="34" charset="0"/>
                <a:ea typeface="Georgia" pitchFamily="34" charset="-122"/>
                <a:cs typeface="Georgia" pitchFamily="34" charset="-120"/>
              </a:rPr>
              <a:t>Root Causes</a:t>
            </a:r>
            <a:endParaRPr lang="en-US" sz="1400" dirty="0"/>
          </a:p>
        </p:txBody>
      </p:sp>
      <p:sp>
        <p:nvSpPr>
          <p:cNvPr id="27" name="Text 21"/>
          <p:cNvSpPr/>
          <p:nvPr/>
        </p:nvSpPr>
        <p:spPr>
          <a:xfrm>
            <a:off x="1143000" y="3090672"/>
            <a:ext cx="1920240" cy="45720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Engineering, sensor, and process failures</a:t>
            </a:r>
            <a:endParaRPr lang="en-US" sz="1100" dirty="0"/>
          </a:p>
        </p:txBody>
      </p:sp>
      <p:sp>
        <p:nvSpPr>
          <p:cNvPr id="28" name="Shape 22"/>
          <p:cNvSpPr/>
          <p:nvPr/>
        </p:nvSpPr>
        <p:spPr>
          <a:xfrm>
            <a:off x="3337560" y="2560320"/>
            <a:ext cx="2743200" cy="1051560"/>
          </a:xfrm>
          <a:prstGeom prst="rect">
            <a:avLst/>
          </a:prstGeom>
          <a:solidFill>
            <a:srgbClr val="FFFFFF"/>
          </a:solidFill>
          <a:ln w="9525">
            <a:solidFill>
              <a:srgbClr val="D6DCE4"/>
            </a:solidFill>
            <a:prstDash val="solid"/>
          </a:ln>
          <a:effectLst>
            <a:outerShdw blurRad="101600" dist="25400" dir="5400000" algn="bl" rotWithShape="0">
              <a:srgbClr val="000000">
                <a:alpha val="6000"/>
              </a:srgbClr>
            </a:outerShdw>
          </a:effectLst>
        </p:spPr>
        <p:txBody>
          <a:bodyPr/>
          <a:lstStyle/>
          <a:p>
            <a:endParaRPr lang="en-US"/>
          </a:p>
        </p:txBody>
      </p:sp>
      <p:sp>
        <p:nvSpPr>
          <p:cNvPr id="29" name="Shape 23"/>
          <p:cNvSpPr/>
          <p:nvPr/>
        </p:nvSpPr>
        <p:spPr>
          <a:xfrm>
            <a:off x="3337560" y="2560320"/>
            <a:ext cx="73152" cy="1051560"/>
          </a:xfrm>
          <a:prstGeom prst="rect">
            <a:avLst/>
          </a:prstGeom>
          <a:solidFill>
            <a:srgbClr val="F4A300"/>
          </a:solidFill>
          <a:ln w="12700">
            <a:solidFill>
              <a:srgbClr val="F4A300"/>
            </a:solidFill>
            <a:prstDash val="solid"/>
          </a:ln>
        </p:spPr>
        <p:txBody>
          <a:bodyPr/>
          <a:lstStyle/>
          <a:p>
            <a:endParaRPr lang="en-US"/>
          </a:p>
        </p:txBody>
      </p:sp>
      <p:pic>
        <p:nvPicPr>
          <p:cNvPr id="30" name="Image 4" descr="preencoded.png"/>
          <p:cNvPicPr>
            <a:picLocks noChangeAspect="1"/>
          </p:cNvPicPr>
          <p:nvPr/>
        </p:nvPicPr>
        <p:blipFill>
          <a:blip r:embed="rId7"/>
          <a:stretch>
            <a:fillRect/>
          </a:stretch>
        </p:blipFill>
        <p:spPr>
          <a:xfrm>
            <a:off x="3566160" y="2761488"/>
            <a:ext cx="365760" cy="365760"/>
          </a:xfrm>
          <a:prstGeom prst="rect">
            <a:avLst/>
          </a:prstGeom>
        </p:spPr>
      </p:pic>
      <p:sp>
        <p:nvSpPr>
          <p:cNvPr id="31" name="Text 24"/>
          <p:cNvSpPr/>
          <p:nvPr/>
        </p:nvSpPr>
        <p:spPr>
          <a:xfrm>
            <a:off x="5577840" y="2670048"/>
            <a:ext cx="365760" cy="274320"/>
          </a:xfrm>
          <a:prstGeom prst="rect">
            <a:avLst/>
          </a:prstGeom>
          <a:noFill/>
          <a:ln/>
        </p:spPr>
        <p:txBody>
          <a:bodyPr wrap="square" lIns="0" tIns="0" rIns="0" bIns="0" rtlCol="0" anchor="ctr"/>
          <a:lstStyle/>
          <a:p>
            <a:pPr marL="0" indent="0" algn="r">
              <a:buNone/>
            </a:pPr>
            <a:r>
              <a:rPr lang="en-US" sz="1100" b="1" dirty="0">
                <a:solidFill>
                  <a:srgbClr val="8DA9C4"/>
                </a:solidFill>
                <a:latin typeface="Calibri" pitchFamily="34" charset="0"/>
                <a:ea typeface="Calibri" pitchFamily="34" charset="-122"/>
                <a:cs typeface="Calibri" pitchFamily="34" charset="-120"/>
              </a:rPr>
              <a:t>05</a:t>
            </a:r>
            <a:endParaRPr lang="en-US" sz="1100" dirty="0"/>
          </a:p>
        </p:txBody>
      </p:sp>
      <p:sp>
        <p:nvSpPr>
          <p:cNvPr id="32" name="Text 25"/>
          <p:cNvSpPr/>
          <p:nvPr/>
        </p:nvSpPr>
        <p:spPr>
          <a:xfrm>
            <a:off x="4023360" y="2743200"/>
            <a:ext cx="1554480" cy="320040"/>
          </a:xfrm>
          <a:prstGeom prst="rect">
            <a:avLst/>
          </a:prstGeom>
          <a:noFill/>
          <a:ln/>
        </p:spPr>
        <p:txBody>
          <a:bodyPr wrap="square" lIns="0" tIns="0" rIns="0" bIns="0" rtlCol="0" anchor="ctr"/>
          <a:lstStyle/>
          <a:p>
            <a:pPr marL="0" indent="0">
              <a:buNone/>
            </a:pPr>
            <a:r>
              <a:rPr lang="en-US" sz="1400" b="1" dirty="0">
                <a:solidFill>
                  <a:srgbClr val="0B2545"/>
                </a:solidFill>
                <a:latin typeface="Georgia" pitchFamily="34" charset="0"/>
                <a:ea typeface="Georgia" pitchFamily="34" charset="-122"/>
                <a:cs typeface="Georgia" pitchFamily="34" charset="-120"/>
              </a:rPr>
              <a:t>Ethical Analysis</a:t>
            </a:r>
            <a:endParaRPr lang="en-US" sz="1400" dirty="0"/>
          </a:p>
        </p:txBody>
      </p:sp>
      <p:sp>
        <p:nvSpPr>
          <p:cNvPr id="33" name="Text 26"/>
          <p:cNvSpPr/>
          <p:nvPr/>
        </p:nvSpPr>
        <p:spPr>
          <a:xfrm>
            <a:off x="4023360" y="3090672"/>
            <a:ext cx="1920240" cy="45720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Where decision-making broke down</a:t>
            </a:r>
            <a:endParaRPr lang="en-US" sz="1100" dirty="0"/>
          </a:p>
        </p:txBody>
      </p:sp>
      <p:sp>
        <p:nvSpPr>
          <p:cNvPr id="34" name="Shape 27"/>
          <p:cNvSpPr/>
          <p:nvPr/>
        </p:nvSpPr>
        <p:spPr>
          <a:xfrm>
            <a:off x="6217920" y="2560320"/>
            <a:ext cx="2743200" cy="1051560"/>
          </a:xfrm>
          <a:prstGeom prst="rect">
            <a:avLst/>
          </a:prstGeom>
          <a:solidFill>
            <a:srgbClr val="FFFFFF"/>
          </a:solidFill>
          <a:ln w="9525">
            <a:solidFill>
              <a:srgbClr val="D6DCE4"/>
            </a:solidFill>
            <a:prstDash val="solid"/>
          </a:ln>
          <a:effectLst>
            <a:outerShdw blurRad="101600" dist="25400" dir="5400000" algn="bl" rotWithShape="0">
              <a:srgbClr val="000000">
                <a:alpha val="6000"/>
              </a:srgbClr>
            </a:outerShdw>
          </a:effectLst>
        </p:spPr>
        <p:txBody>
          <a:bodyPr/>
          <a:lstStyle/>
          <a:p>
            <a:endParaRPr lang="en-US"/>
          </a:p>
        </p:txBody>
      </p:sp>
      <p:sp>
        <p:nvSpPr>
          <p:cNvPr id="35" name="Shape 28"/>
          <p:cNvSpPr/>
          <p:nvPr/>
        </p:nvSpPr>
        <p:spPr>
          <a:xfrm>
            <a:off x="6217920" y="2560320"/>
            <a:ext cx="73152" cy="1051560"/>
          </a:xfrm>
          <a:prstGeom prst="rect">
            <a:avLst/>
          </a:prstGeom>
          <a:solidFill>
            <a:srgbClr val="F4A300"/>
          </a:solidFill>
          <a:ln w="12700">
            <a:solidFill>
              <a:srgbClr val="F4A300"/>
            </a:solidFill>
            <a:prstDash val="solid"/>
          </a:ln>
        </p:spPr>
        <p:txBody>
          <a:bodyPr/>
          <a:lstStyle/>
          <a:p>
            <a:endParaRPr lang="en-US"/>
          </a:p>
        </p:txBody>
      </p:sp>
      <p:pic>
        <p:nvPicPr>
          <p:cNvPr id="36" name="Image 5" descr="preencoded.png"/>
          <p:cNvPicPr>
            <a:picLocks noChangeAspect="1"/>
          </p:cNvPicPr>
          <p:nvPr/>
        </p:nvPicPr>
        <p:blipFill>
          <a:blip r:embed="rId8"/>
          <a:stretch>
            <a:fillRect/>
          </a:stretch>
        </p:blipFill>
        <p:spPr>
          <a:xfrm>
            <a:off x="6446520" y="2761488"/>
            <a:ext cx="365760" cy="365760"/>
          </a:xfrm>
          <a:prstGeom prst="rect">
            <a:avLst/>
          </a:prstGeom>
        </p:spPr>
      </p:pic>
      <p:sp>
        <p:nvSpPr>
          <p:cNvPr id="37" name="Text 29"/>
          <p:cNvSpPr/>
          <p:nvPr/>
        </p:nvSpPr>
        <p:spPr>
          <a:xfrm>
            <a:off x="8458200" y="2670048"/>
            <a:ext cx="365760" cy="274320"/>
          </a:xfrm>
          <a:prstGeom prst="rect">
            <a:avLst/>
          </a:prstGeom>
          <a:noFill/>
          <a:ln/>
        </p:spPr>
        <p:txBody>
          <a:bodyPr wrap="square" lIns="0" tIns="0" rIns="0" bIns="0" rtlCol="0" anchor="ctr"/>
          <a:lstStyle/>
          <a:p>
            <a:pPr marL="0" indent="0" algn="r">
              <a:buNone/>
            </a:pPr>
            <a:r>
              <a:rPr lang="en-US" sz="1100" b="1" dirty="0">
                <a:solidFill>
                  <a:srgbClr val="8DA9C4"/>
                </a:solidFill>
                <a:latin typeface="Calibri" pitchFamily="34" charset="0"/>
                <a:ea typeface="Calibri" pitchFamily="34" charset="-122"/>
                <a:cs typeface="Calibri" pitchFamily="34" charset="-120"/>
              </a:rPr>
              <a:t>06</a:t>
            </a:r>
            <a:endParaRPr lang="en-US" sz="1100" dirty="0"/>
          </a:p>
        </p:txBody>
      </p:sp>
      <p:sp>
        <p:nvSpPr>
          <p:cNvPr id="38" name="Text 30"/>
          <p:cNvSpPr/>
          <p:nvPr/>
        </p:nvSpPr>
        <p:spPr>
          <a:xfrm>
            <a:off x="6903720" y="2743200"/>
            <a:ext cx="1554480" cy="320040"/>
          </a:xfrm>
          <a:prstGeom prst="rect">
            <a:avLst/>
          </a:prstGeom>
          <a:noFill/>
          <a:ln/>
        </p:spPr>
        <p:txBody>
          <a:bodyPr wrap="square" lIns="0" tIns="0" rIns="0" bIns="0" rtlCol="0" anchor="ctr"/>
          <a:lstStyle/>
          <a:p>
            <a:pPr marL="0" indent="0">
              <a:buNone/>
            </a:pPr>
            <a:r>
              <a:rPr lang="en-US" sz="1400" b="1" dirty="0">
                <a:solidFill>
                  <a:srgbClr val="0B2545"/>
                </a:solidFill>
                <a:latin typeface="Georgia" pitchFamily="34" charset="0"/>
                <a:ea typeface="Georgia" pitchFamily="34" charset="-122"/>
                <a:cs typeface="Georgia" pitchFamily="34" charset="-120"/>
              </a:rPr>
              <a:t>Lab Connections</a:t>
            </a:r>
            <a:endParaRPr lang="en-US" sz="1400" dirty="0"/>
          </a:p>
        </p:txBody>
      </p:sp>
      <p:sp>
        <p:nvSpPr>
          <p:cNvPr id="39" name="Text 31"/>
          <p:cNvSpPr/>
          <p:nvPr/>
        </p:nvSpPr>
        <p:spPr>
          <a:xfrm>
            <a:off x="6903720" y="3090672"/>
            <a:ext cx="1920240" cy="45720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What our coursework tells us about this</a:t>
            </a:r>
            <a:endParaRPr lang="en-US" sz="1100" dirty="0"/>
          </a:p>
        </p:txBody>
      </p:sp>
      <p:sp>
        <p:nvSpPr>
          <p:cNvPr id="40" name="Text 32"/>
          <p:cNvSpPr/>
          <p:nvPr/>
        </p:nvSpPr>
        <p:spPr>
          <a:xfrm>
            <a:off x="457200" y="4846320"/>
            <a:ext cx="5486400" cy="228600"/>
          </a:xfrm>
          <a:prstGeom prst="rect">
            <a:avLst/>
          </a:prstGeom>
          <a:noFill/>
          <a:ln/>
        </p:spPr>
        <p:txBody>
          <a:bodyPr wrap="square" lIns="0" tIns="0" rIns="0" bIns="0" rtlCol="0" anchor="ctr"/>
          <a:lstStyle/>
          <a:p>
            <a:pPr marL="0" indent="0">
              <a:buNone/>
            </a:pPr>
            <a:r>
              <a:rPr lang="en-US" sz="900" dirty="0">
                <a:solidFill>
                  <a:srgbClr val="5C6B7A"/>
                </a:solidFill>
                <a:latin typeface="Calibri" pitchFamily="34" charset="0"/>
                <a:ea typeface="Calibri" pitchFamily="34" charset="-122"/>
                <a:cs typeface="Calibri" pitchFamily="34" charset="-120"/>
              </a:rPr>
              <a:t>Boeing 737 MAX  |  Engineering Ethics Case Study</a:t>
            </a:r>
            <a:endParaRPr lang="en-US" sz="900" dirty="0"/>
          </a:p>
        </p:txBody>
      </p:sp>
      <p:sp>
        <p:nvSpPr>
          <p:cNvPr id="41" name="Text 33"/>
          <p:cNvSpPr/>
          <p:nvPr/>
        </p:nvSpPr>
        <p:spPr>
          <a:xfrm>
            <a:off x="8229600" y="4846320"/>
            <a:ext cx="457200" cy="228600"/>
          </a:xfrm>
          <a:prstGeom prst="rect">
            <a:avLst/>
          </a:prstGeom>
          <a:noFill/>
          <a:ln/>
        </p:spPr>
        <p:txBody>
          <a:bodyPr wrap="square" lIns="0" tIns="0" rIns="0" bIns="0" rtlCol="0" anchor="ctr"/>
          <a:lstStyle/>
          <a:p>
            <a:pPr marL="0" indent="0" algn="r">
              <a:buNone/>
            </a:pPr>
            <a:r>
              <a:rPr lang="en-US" sz="900" dirty="0">
                <a:solidFill>
                  <a:srgbClr val="5C6B7A"/>
                </a:solidFill>
                <a:latin typeface="Calibri" pitchFamily="34" charset="0"/>
                <a:ea typeface="Calibri" pitchFamily="34" charset="-122"/>
                <a:cs typeface="Calibri" pitchFamily="34" charset="-120"/>
              </a:rPr>
              <a:t>2</a:t>
            </a:r>
            <a:endParaRPr lang="en-US" sz="900" dirty="0"/>
          </a:p>
        </p:txBody>
      </p:sp>
    </p:spTree>
    <p:extLst>
      <p:ext uri="{BB962C8B-B14F-4D97-AF65-F5344CB8AC3E}">
        <p14:creationId xmlns:p14="http://schemas.microsoft.com/office/powerpoint/2010/main" val="8357537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EF4ED"/>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228600"/>
          </a:xfrm>
          <a:prstGeom prst="rect">
            <a:avLst/>
          </a:prstGeom>
          <a:noFill/>
          <a:ln/>
        </p:spPr>
        <p:txBody>
          <a:bodyPr wrap="square" lIns="0" tIns="0" rIns="0" bIns="0" rtlCol="0" anchor="ctr"/>
          <a:lstStyle/>
          <a:p>
            <a:pPr marL="0" indent="0">
              <a:buNone/>
            </a:pPr>
            <a:r>
              <a:rPr lang="en-US" sz="1100" b="1" kern="0" spc="400" dirty="0">
                <a:solidFill>
                  <a:srgbClr val="F4A300"/>
                </a:solidFill>
                <a:latin typeface="Calibri" pitchFamily="34" charset="0"/>
                <a:ea typeface="Calibri" pitchFamily="34" charset="-122"/>
                <a:cs typeface="Calibri" pitchFamily="34" charset="-120"/>
              </a:rPr>
              <a:t>BACKGROUND</a:t>
            </a:r>
            <a:endParaRPr lang="en-US" sz="1100" dirty="0"/>
          </a:p>
        </p:txBody>
      </p:sp>
      <p:sp>
        <p:nvSpPr>
          <p:cNvPr id="3" name="Text 1"/>
          <p:cNvSpPr/>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0B2545"/>
                </a:solidFill>
                <a:latin typeface="Georgia" pitchFamily="34" charset="0"/>
                <a:ea typeface="Georgia" pitchFamily="34" charset="-122"/>
                <a:cs typeface="Georgia" pitchFamily="34" charset="-120"/>
              </a:rPr>
              <a:t>A new engine, an old airframe</a:t>
            </a:r>
            <a:endParaRPr lang="en-US" sz="2800" dirty="0"/>
          </a:p>
        </p:txBody>
      </p:sp>
      <p:sp>
        <p:nvSpPr>
          <p:cNvPr id="4" name="Text 2"/>
          <p:cNvSpPr/>
          <p:nvPr/>
        </p:nvSpPr>
        <p:spPr>
          <a:xfrm>
            <a:off x="457200" y="1234440"/>
            <a:ext cx="4572000" cy="914400"/>
          </a:xfrm>
          <a:prstGeom prst="rect">
            <a:avLst/>
          </a:prstGeom>
          <a:noFill/>
          <a:ln/>
        </p:spPr>
        <p:txBody>
          <a:bodyPr wrap="square" lIns="0" tIns="0" rIns="0" bIns="0" rtlCol="0" anchor="ctr"/>
          <a:lstStyle/>
          <a:p>
            <a:pPr marL="0" indent="0">
              <a:buNone/>
            </a:pPr>
            <a:r>
              <a:rPr lang="en-US" sz="1300" dirty="0">
                <a:solidFill>
                  <a:srgbClr val="1B1B1E"/>
                </a:solidFill>
                <a:latin typeface="Calibri" pitchFamily="34" charset="0"/>
                <a:ea typeface="Calibri" pitchFamily="34" charset="-122"/>
                <a:cs typeface="Calibri" pitchFamily="34" charset="-120"/>
              </a:rPr>
              <a:t>Boeing's 1960s-era 737 was the company's bestseller. When Airbus launched the fuel-efficient A320neo in 2010, Boeing needed a fast, cheap response.</a:t>
            </a:r>
            <a:endParaRPr lang="en-US" sz="1300" dirty="0"/>
          </a:p>
        </p:txBody>
      </p:sp>
      <p:sp>
        <p:nvSpPr>
          <p:cNvPr id="5" name="Text 3"/>
          <p:cNvSpPr/>
          <p:nvPr/>
        </p:nvSpPr>
        <p:spPr>
          <a:xfrm>
            <a:off x="457200" y="2194560"/>
            <a:ext cx="4572000" cy="1005840"/>
          </a:xfrm>
          <a:prstGeom prst="rect">
            <a:avLst/>
          </a:prstGeom>
          <a:noFill/>
          <a:ln/>
        </p:spPr>
        <p:txBody>
          <a:bodyPr wrap="square" lIns="0" tIns="0" rIns="0" bIns="0" rtlCol="0" anchor="ctr"/>
          <a:lstStyle/>
          <a:p>
            <a:pPr marL="0" indent="0">
              <a:buNone/>
            </a:pPr>
            <a:r>
              <a:rPr lang="en-US" sz="1300" dirty="0">
                <a:solidFill>
                  <a:srgbClr val="1B1B1E"/>
                </a:solidFill>
                <a:latin typeface="Calibri" pitchFamily="34" charset="0"/>
                <a:ea typeface="Calibri" pitchFamily="34" charset="-122"/>
                <a:cs typeface="Calibri" pitchFamily="34" charset="-120"/>
              </a:rPr>
              <a:t>Rather than design a new aircraft, Boeing fitted the 737 with much larger, more efficient LEAP-1B engines. To fit them under the low 737 wing, the engines had to be moved forward and up.</a:t>
            </a:r>
            <a:endParaRPr lang="en-US" sz="1300" dirty="0"/>
          </a:p>
        </p:txBody>
      </p:sp>
      <p:sp>
        <p:nvSpPr>
          <p:cNvPr id="6" name="Text 4"/>
          <p:cNvSpPr/>
          <p:nvPr/>
        </p:nvSpPr>
        <p:spPr>
          <a:xfrm>
            <a:off x="457200" y="3246120"/>
            <a:ext cx="4572000" cy="1188720"/>
          </a:xfrm>
          <a:prstGeom prst="rect">
            <a:avLst/>
          </a:prstGeom>
          <a:noFill/>
          <a:ln/>
        </p:spPr>
        <p:txBody>
          <a:bodyPr wrap="square" lIns="0" tIns="0" rIns="0" bIns="0" rtlCol="0" anchor="ctr"/>
          <a:lstStyle/>
          <a:p>
            <a:pPr marL="0" indent="0">
              <a:buNone/>
            </a:pPr>
            <a:r>
              <a:rPr lang="en-US" sz="1300" i="1" dirty="0">
                <a:solidFill>
                  <a:srgbClr val="1B1B1E"/>
                </a:solidFill>
                <a:latin typeface="Calibri" pitchFamily="34" charset="0"/>
                <a:ea typeface="Calibri" pitchFamily="34" charset="-122"/>
                <a:cs typeface="Calibri" pitchFamily="34" charset="-120"/>
              </a:rPr>
              <a:t>This changed how the airplane handled — it had a tendency to pitch up at high angles of attack. MCAS was created in software to mask that tendency, so pilots wouldn't need new simulator training.</a:t>
            </a:r>
            <a:endParaRPr lang="en-US" sz="1300" dirty="0"/>
          </a:p>
        </p:txBody>
      </p:sp>
      <p:sp>
        <p:nvSpPr>
          <p:cNvPr id="7" name="Text 5"/>
          <p:cNvSpPr/>
          <p:nvPr/>
        </p:nvSpPr>
        <p:spPr>
          <a:xfrm>
            <a:off x="5394960" y="1234440"/>
            <a:ext cx="3291840" cy="274320"/>
          </a:xfrm>
          <a:prstGeom prst="rect">
            <a:avLst/>
          </a:prstGeom>
          <a:noFill/>
          <a:ln/>
        </p:spPr>
        <p:txBody>
          <a:bodyPr wrap="square" lIns="0" tIns="0" rIns="0" bIns="0" rtlCol="0" anchor="ctr"/>
          <a:lstStyle/>
          <a:p>
            <a:pPr marL="0" indent="0">
              <a:buNone/>
            </a:pPr>
            <a:r>
              <a:rPr lang="en-US" sz="1100" b="1" kern="0" spc="400" dirty="0">
                <a:solidFill>
                  <a:srgbClr val="F4A300"/>
                </a:solidFill>
                <a:latin typeface="Calibri" pitchFamily="34" charset="0"/>
                <a:ea typeface="Calibri" pitchFamily="34" charset="-122"/>
                <a:cs typeface="Calibri" pitchFamily="34" charset="-120"/>
              </a:rPr>
              <a:t>THE PRESSURES</a:t>
            </a:r>
            <a:endParaRPr lang="en-US" sz="1100" dirty="0"/>
          </a:p>
        </p:txBody>
      </p:sp>
      <p:sp>
        <p:nvSpPr>
          <p:cNvPr id="8" name="Shape 6"/>
          <p:cNvSpPr/>
          <p:nvPr/>
        </p:nvSpPr>
        <p:spPr>
          <a:xfrm>
            <a:off x="5394960" y="1600200"/>
            <a:ext cx="3291840" cy="841248"/>
          </a:xfrm>
          <a:prstGeom prst="rect">
            <a:avLst/>
          </a:prstGeom>
          <a:solidFill>
            <a:srgbClr val="0B2545"/>
          </a:solidFill>
          <a:ln w="12700">
            <a:solidFill>
              <a:srgbClr val="0B2545"/>
            </a:solidFill>
            <a:prstDash val="solid"/>
          </a:ln>
        </p:spPr>
        <p:txBody>
          <a:bodyPr/>
          <a:lstStyle/>
          <a:p>
            <a:endParaRPr lang="en-US"/>
          </a:p>
        </p:txBody>
      </p:sp>
      <p:sp>
        <p:nvSpPr>
          <p:cNvPr id="9" name="Shape 7"/>
          <p:cNvSpPr/>
          <p:nvPr/>
        </p:nvSpPr>
        <p:spPr>
          <a:xfrm>
            <a:off x="5394960" y="1600200"/>
            <a:ext cx="73152" cy="841248"/>
          </a:xfrm>
          <a:prstGeom prst="rect">
            <a:avLst/>
          </a:prstGeom>
          <a:solidFill>
            <a:srgbClr val="F4A300"/>
          </a:solidFill>
          <a:ln w="12700">
            <a:solidFill>
              <a:srgbClr val="F4A300"/>
            </a:solidFill>
            <a:prstDash val="solid"/>
          </a:ln>
        </p:spPr>
        <p:txBody>
          <a:bodyPr/>
          <a:lstStyle/>
          <a:p>
            <a:endParaRPr lang="en-US"/>
          </a:p>
        </p:txBody>
      </p:sp>
      <p:sp>
        <p:nvSpPr>
          <p:cNvPr id="10" name="Text 8"/>
          <p:cNvSpPr/>
          <p:nvPr/>
        </p:nvSpPr>
        <p:spPr>
          <a:xfrm>
            <a:off x="5577840" y="1691640"/>
            <a:ext cx="3017520" cy="274320"/>
          </a:xfrm>
          <a:prstGeom prst="rect">
            <a:avLst/>
          </a:prstGeom>
          <a:noFill/>
          <a:ln/>
        </p:spPr>
        <p:txBody>
          <a:bodyPr wrap="square" lIns="0" tIns="0" rIns="0" bIns="0" rtlCol="0" anchor="ctr"/>
          <a:lstStyle/>
          <a:p>
            <a:pPr marL="0" indent="0">
              <a:buNone/>
            </a:pPr>
            <a:r>
              <a:rPr lang="en-US" sz="1100" b="1" kern="0" spc="300" dirty="0">
                <a:solidFill>
                  <a:srgbClr val="F4A300"/>
                </a:solidFill>
                <a:latin typeface="Calibri" pitchFamily="34" charset="0"/>
                <a:ea typeface="Calibri" pitchFamily="34" charset="-122"/>
                <a:cs typeface="Calibri" pitchFamily="34" charset="-120"/>
              </a:rPr>
              <a:t>MARKET</a:t>
            </a:r>
            <a:endParaRPr lang="en-US" sz="1100" dirty="0"/>
          </a:p>
        </p:txBody>
      </p:sp>
      <p:sp>
        <p:nvSpPr>
          <p:cNvPr id="11" name="Text 9"/>
          <p:cNvSpPr/>
          <p:nvPr/>
        </p:nvSpPr>
        <p:spPr>
          <a:xfrm>
            <a:off x="5577840" y="1965960"/>
            <a:ext cx="3017520" cy="45720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Beat the Airbus A320neo to market</a:t>
            </a:r>
            <a:endParaRPr lang="en-US" sz="1300" dirty="0"/>
          </a:p>
        </p:txBody>
      </p:sp>
      <p:sp>
        <p:nvSpPr>
          <p:cNvPr id="12" name="Shape 10"/>
          <p:cNvSpPr/>
          <p:nvPr/>
        </p:nvSpPr>
        <p:spPr>
          <a:xfrm>
            <a:off x="5394960" y="2560320"/>
            <a:ext cx="3291840" cy="841248"/>
          </a:xfrm>
          <a:prstGeom prst="rect">
            <a:avLst/>
          </a:prstGeom>
          <a:solidFill>
            <a:srgbClr val="0B2545"/>
          </a:solidFill>
          <a:ln w="12700">
            <a:solidFill>
              <a:srgbClr val="0B2545"/>
            </a:solidFill>
            <a:prstDash val="solid"/>
          </a:ln>
        </p:spPr>
        <p:txBody>
          <a:bodyPr/>
          <a:lstStyle/>
          <a:p>
            <a:endParaRPr lang="en-US"/>
          </a:p>
        </p:txBody>
      </p:sp>
      <p:sp>
        <p:nvSpPr>
          <p:cNvPr id="13" name="Shape 11"/>
          <p:cNvSpPr/>
          <p:nvPr/>
        </p:nvSpPr>
        <p:spPr>
          <a:xfrm>
            <a:off x="5394960" y="2560320"/>
            <a:ext cx="73152" cy="841248"/>
          </a:xfrm>
          <a:prstGeom prst="rect">
            <a:avLst/>
          </a:prstGeom>
          <a:solidFill>
            <a:srgbClr val="F4A300"/>
          </a:solidFill>
          <a:ln w="12700">
            <a:solidFill>
              <a:srgbClr val="F4A300"/>
            </a:solidFill>
            <a:prstDash val="solid"/>
          </a:ln>
        </p:spPr>
        <p:txBody>
          <a:bodyPr/>
          <a:lstStyle/>
          <a:p>
            <a:endParaRPr lang="en-US"/>
          </a:p>
        </p:txBody>
      </p:sp>
      <p:sp>
        <p:nvSpPr>
          <p:cNvPr id="14" name="Text 12"/>
          <p:cNvSpPr/>
          <p:nvPr/>
        </p:nvSpPr>
        <p:spPr>
          <a:xfrm>
            <a:off x="5577840" y="2651760"/>
            <a:ext cx="3017520" cy="274320"/>
          </a:xfrm>
          <a:prstGeom prst="rect">
            <a:avLst/>
          </a:prstGeom>
          <a:noFill/>
          <a:ln/>
        </p:spPr>
        <p:txBody>
          <a:bodyPr wrap="square" lIns="0" tIns="0" rIns="0" bIns="0" rtlCol="0" anchor="ctr"/>
          <a:lstStyle/>
          <a:p>
            <a:pPr marL="0" indent="0">
              <a:buNone/>
            </a:pPr>
            <a:r>
              <a:rPr lang="en-US" sz="1100" b="1" kern="0" spc="300" dirty="0">
                <a:solidFill>
                  <a:srgbClr val="F4A300"/>
                </a:solidFill>
                <a:latin typeface="Calibri" pitchFamily="34" charset="0"/>
                <a:ea typeface="Calibri" pitchFamily="34" charset="-122"/>
                <a:cs typeface="Calibri" pitchFamily="34" charset="-120"/>
              </a:rPr>
              <a:t>COST</a:t>
            </a:r>
            <a:endParaRPr lang="en-US" sz="1100" dirty="0"/>
          </a:p>
        </p:txBody>
      </p:sp>
      <p:sp>
        <p:nvSpPr>
          <p:cNvPr id="15" name="Text 13"/>
          <p:cNvSpPr/>
          <p:nvPr/>
        </p:nvSpPr>
        <p:spPr>
          <a:xfrm>
            <a:off x="5577840" y="2926080"/>
            <a:ext cx="3017520" cy="45720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Avoid full simulator retraining for airlines</a:t>
            </a:r>
            <a:endParaRPr lang="en-US" sz="1300" dirty="0"/>
          </a:p>
        </p:txBody>
      </p:sp>
      <p:sp>
        <p:nvSpPr>
          <p:cNvPr id="16" name="Shape 14"/>
          <p:cNvSpPr/>
          <p:nvPr/>
        </p:nvSpPr>
        <p:spPr>
          <a:xfrm>
            <a:off x="5394960" y="3520440"/>
            <a:ext cx="3291840" cy="841248"/>
          </a:xfrm>
          <a:prstGeom prst="rect">
            <a:avLst/>
          </a:prstGeom>
          <a:solidFill>
            <a:srgbClr val="0B2545"/>
          </a:solidFill>
          <a:ln w="12700">
            <a:solidFill>
              <a:srgbClr val="0B2545"/>
            </a:solidFill>
            <a:prstDash val="solid"/>
          </a:ln>
        </p:spPr>
        <p:txBody>
          <a:bodyPr/>
          <a:lstStyle/>
          <a:p>
            <a:endParaRPr lang="en-US"/>
          </a:p>
        </p:txBody>
      </p:sp>
      <p:sp>
        <p:nvSpPr>
          <p:cNvPr id="17" name="Shape 15"/>
          <p:cNvSpPr/>
          <p:nvPr/>
        </p:nvSpPr>
        <p:spPr>
          <a:xfrm>
            <a:off x="5394960" y="3520440"/>
            <a:ext cx="73152" cy="841248"/>
          </a:xfrm>
          <a:prstGeom prst="rect">
            <a:avLst/>
          </a:prstGeom>
          <a:solidFill>
            <a:srgbClr val="F4A300"/>
          </a:solidFill>
          <a:ln w="12700">
            <a:solidFill>
              <a:srgbClr val="F4A300"/>
            </a:solidFill>
            <a:prstDash val="solid"/>
          </a:ln>
        </p:spPr>
        <p:txBody>
          <a:bodyPr/>
          <a:lstStyle/>
          <a:p>
            <a:endParaRPr lang="en-US"/>
          </a:p>
        </p:txBody>
      </p:sp>
      <p:sp>
        <p:nvSpPr>
          <p:cNvPr id="18" name="Text 16"/>
          <p:cNvSpPr/>
          <p:nvPr/>
        </p:nvSpPr>
        <p:spPr>
          <a:xfrm>
            <a:off x="5577840" y="3611880"/>
            <a:ext cx="3017520" cy="274320"/>
          </a:xfrm>
          <a:prstGeom prst="rect">
            <a:avLst/>
          </a:prstGeom>
          <a:noFill/>
          <a:ln/>
        </p:spPr>
        <p:txBody>
          <a:bodyPr wrap="square" lIns="0" tIns="0" rIns="0" bIns="0" rtlCol="0" anchor="ctr"/>
          <a:lstStyle/>
          <a:p>
            <a:pPr marL="0" indent="0">
              <a:buNone/>
            </a:pPr>
            <a:r>
              <a:rPr lang="en-US" sz="1100" b="1" kern="0" spc="300" dirty="0">
                <a:solidFill>
                  <a:srgbClr val="F4A300"/>
                </a:solidFill>
                <a:latin typeface="Calibri" pitchFamily="34" charset="0"/>
                <a:ea typeface="Calibri" pitchFamily="34" charset="-122"/>
                <a:cs typeface="Calibri" pitchFamily="34" charset="-120"/>
              </a:rPr>
              <a:t>SPEED</a:t>
            </a:r>
            <a:endParaRPr lang="en-US" sz="1100" dirty="0"/>
          </a:p>
        </p:txBody>
      </p:sp>
      <p:sp>
        <p:nvSpPr>
          <p:cNvPr id="19" name="Text 17"/>
          <p:cNvSpPr/>
          <p:nvPr/>
        </p:nvSpPr>
        <p:spPr>
          <a:xfrm>
            <a:off x="5577840" y="3886200"/>
            <a:ext cx="3017520" cy="45720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Re-certify quickly under existing 737 type rating</a:t>
            </a:r>
            <a:endParaRPr lang="en-US" sz="1300" dirty="0"/>
          </a:p>
        </p:txBody>
      </p:sp>
      <p:sp>
        <p:nvSpPr>
          <p:cNvPr id="20" name="Text 18"/>
          <p:cNvSpPr/>
          <p:nvPr/>
        </p:nvSpPr>
        <p:spPr>
          <a:xfrm>
            <a:off x="457200" y="4846320"/>
            <a:ext cx="5486400" cy="228600"/>
          </a:xfrm>
          <a:prstGeom prst="rect">
            <a:avLst/>
          </a:prstGeom>
          <a:noFill/>
          <a:ln/>
        </p:spPr>
        <p:txBody>
          <a:bodyPr wrap="square" lIns="0" tIns="0" rIns="0" bIns="0" rtlCol="0" anchor="ctr"/>
          <a:lstStyle/>
          <a:p>
            <a:pPr marL="0" indent="0">
              <a:buNone/>
            </a:pPr>
            <a:r>
              <a:rPr lang="en-US" sz="900" dirty="0">
                <a:solidFill>
                  <a:srgbClr val="5C6B7A"/>
                </a:solidFill>
                <a:latin typeface="Calibri" pitchFamily="34" charset="0"/>
                <a:ea typeface="Calibri" pitchFamily="34" charset="-122"/>
                <a:cs typeface="Calibri" pitchFamily="34" charset="-120"/>
              </a:rPr>
              <a:t>Boeing 737 MAX  |  Engineering Ethics Case Study</a:t>
            </a:r>
            <a:endParaRPr lang="en-US" sz="900" dirty="0"/>
          </a:p>
        </p:txBody>
      </p:sp>
      <p:sp>
        <p:nvSpPr>
          <p:cNvPr id="21" name="Text 19"/>
          <p:cNvSpPr/>
          <p:nvPr/>
        </p:nvSpPr>
        <p:spPr>
          <a:xfrm>
            <a:off x="8229600" y="4846320"/>
            <a:ext cx="457200" cy="228600"/>
          </a:xfrm>
          <a:prstGeom prst="rect">
            <a:avLst/>
          </a:prstGeom>
          <a:noFill/>
          <a:ln/>
        </p:spPr>
        <p:txBody>
          <a:bodyPr wrap="square" lIns="0" tIns="0" rIns="0" bIns="0" rtlCol="0" anchor="ctr"/>
          <a:lstStyle/>
          <a:p>
            <a:pPr marL="0" indent="0" algn="r">
              <a:buNone/>
            </a:pPr>
            <a:r>
              <a:rPr lang="en-US" sz="900" dirty="0">
                <a:solidFill>
                  <a:srgbClr val="5C6B7A"/>
                </a:solidFill>
                <a:latin typeface="Calibri" pitchFamily="34" charset="0"/>
                <a:ea typeface="Calibri" pitchFamily="34" charset="-122"/>
                <a:cs typeface="Calibri" pitchFamily="34" charset="-120"/>
              </a:rPr>
              <a:t>3</a:t>
            </a:r>
            <a:endParaRPr lang="en-US" sz="900" dirty="0"/>
          </a:p>
        </p:txBody>
      </p:sp>
    </p:spTree>
    <p:extLst>
      <p:ext uri="{BB962C8B-B14F-4D97-AF65-F5344CB8AC3E}">
        <p14:creationId xmlns:p14="http://schemas.microsoft.com/office/powerpoint/2010/main" val="11612111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EF4ED"/>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228600"/>
          </a:xfrm>
          <a:prstGeom prst="rect">
            <a:avLst/>
          </a:prstGeom>
          <a:noFill/>
          <a:ln/>
        </p:spPr>
        <p:txBody>
          <a:bodyPr wrap="square" lIns="0" tIns="0" rIns="0" bIns="0" rtlCol="0" anchor="ctr"/>
          <a:lstStyle/>
          <a:p>
            <a:pPr marL="0" indent="0">
              <a:buNone/>
            </a:pPr>
            <a:r>
              <a:rPr lang="en-US" sz="1100" b="1" kern="0" spc="400" dirty="0">
                <a:solidFill>
                  <a:srgbClr val="F4A300"/>
                </a:solidFill>
                <a:latin typeface="Calibri" pitchFamily="34" charset="0"/>
                <a:ea typeface="Calibri" pitchFamily="34" charset="-122"/>
                <a:cs typeface="Calibri" pitchFamily="34" charset="-120"/>
              </a:rPr>
              <a:t>THE SYSTEM</a:t>
            </a:r>
            <a:endParaRPr lang="en-US" sz="1100" dirty="0"/>
          </a:p>
        </p:txBody>
      </p:sp>
      <p:sp>
        <p:nvSpPr>
          <p:cNvPr id="3" name="Text 1"/>
          <p:cNvSpPr/>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0B2545"/>
                </a:solidFill>
                <a:latin typeface="Georgia" pitchFamily="34" charset="0"/>
                <a:ea typeface="Georgia" pitchFamily="34" charset="-122"/>
                <a:cs typeface="Georgia" pitchFamily="34" charset="-120"/>
              </a:rPr>
              <a:t>What MCAS actually did</a:t>
            </a:r>
            <a:endParaRPr lang="en-US" sz="2800" dirty="0"/>
          </a:p>
        </p:txBody>
      </p:sp>
      <p:sp>
        <p:nvSpPr>
          <p:cNvPr id="4" name="Shape 2"/>
          <p:cNvSpPr/>
          <p:nvPr/>
        </p:nvSpPr>
        <p:spPr>
          <a:xfrm>
            <a:off x="457200" y="1234440"/>
            <a:ext cx="4023360" cy="3291840"/>
          </a:xfrm>
          <a:prstGeom prst="rect">
            <a:avLst/>
          </a:prstGeom>
          <a:solidFill>
            <a:srgbClr val="FFFFFF"/>
          </a:solidFill>
          <a:ln w="9525">
            <a:solidFill>
              <a:srgbClr val="D6DCE4"/>
            </a:solidFill>
            <a:prstDash val="solid"/>
          </a:ln>
          <a:effectLst>
            <a:outerShdw blurRad="101600" dist="25400" dir="5400000" algn="bl" rotWithShape="0">
              <a:srgbClr val="000000">
                <a:alpha val="6000"/>
              </a:srgbClr>
            </a:outerShdw>
          </a:effectLst>
        </p:spPr>
        <p:txBody>
          <a:bodyPr/>
          <a:lstStyle/>
          <a:p>
            <a:endParaRPr lang="en-US"/>
          </a:p>
        </p:txBody>
      </p:sp>
      <p:sp>
        <p:nvSpPr>
          <p:cNvPr id="5" name="Shape 3"/>
          <p:cNvSpPr/>
          <p:nvPr/>
        </p:nvSpPr>
        <p:spPr>
          <a:xfrm>
            <a:off x="457200" y="1234440"/>
            <a:ext cx="73152" cy="3291840"/>
          </a:xfrm>
          <a:prstGeom prst="rect">
            <a:avLst/>
          </a:prstGeom>
          <a:solidFill>
            <a:srgbClr val="0B2545"/>
          </a:solidFill>
          <a:ln w="12700">
            <a:solidFill>
              <a:srgbClr val="0B2545"/>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685800" y="1417320"/>
            <a:ext cx="411480" cy="411480"/>
          </a:xfrm>
          <a:prstGeom prst="rect">
            <a:avLst/>
          </a:prstGeom>
        </p:spPr>
      </p:pic>
      <p:sp>
        <p:nvSpPr>
          <p:cNvPr id="7" name="Text 4"/>
          <p:cNvSpPr/>
          <p:nvPr/>
        </p:nvSpPr>
        <p:spPr>
          <a:xfrm>
            <a:off x="1188720" y="1371600"/>
            <a:ext cx="3200400" cy="502920"/>
          </a:xfrm>
          <a:prstGeom prst="rect">
            <a:avLst/>
          </a:prstGeom>
          <a:noFill/>
          <a:ln/>
        </p:spPr>
        <p:txBody>
          <a:bodyPr wrap="square" lIns="0" tIns="0" rIns="0" bIns="0" rtlCol="0" anchor="ctr"/>
          <a:lstStyle/>
          <a:p>
            <a:pPr marL="0" indent="0">
              <a:buNone/>
            </a:pPr>
            <a:r>
              <a:rPr lang="en-US" sz="1400" b="1" dirty="0">
                <a:solidFill>
                  <a:srgbClr val="0B2545"/>
                </a:solidFill>
                <a:latin typeface="Georgia" pitchFamily="34" charset="0"/>
                <a:ea typeface="Georgia" pitchFamily="34" charset="-122"/>
                <a:cs typeface="Georgia" pitchFamily="34" charset="-120"/>
              </a:rPr>
              <a:t>Maneuvering Characteristics Augmentation System</a:t>
            </a:r>
            <a:endParaRPr lang="en-US" sz="1400" dirty="0"/>
          </a:p>
        </p:txBody>
      </p:sp>
      <p:sp>
        <p:nvSpPr>
          <p:cNvPr id="8" name="Text 5"/>
          <p:cNvSpPr/>
          <p:nvPr/>
        </p:nvSpPr>
        <p:spPr>
          <a:xfrm>
            <a:off x="685800" y="2011680"/>
            <a:ext cx="3657600" cy="2377440"/>
          </a:xfrm>
          <a:prstGeom prst="rect">
            <a:avLst/>
          </a:prstGeom>
          <a:noFill/>
          <a:ln/>
        </p:spPr>
        <p:txBody>
          <a:bodyPr wrap="square" lIns="0" tIns="0" rIns="0" bIns="0" rtlCol="0" anchor="ctr"/>
          <a:lstStyle/>
          <a:p>
            <a:pPr marL="0" indent="0">
              <a:spcAft>
                <a:spcPts val="400"/>
              </a:spcAft>
              <a:buNone/>
            </a:pPr>
            <a:r>
              <a:rPr lang="en-US" sz="1200" b="1" dirty="0">
                <a:solidFill>
                  <a:srgbClr val="0B2545"/>
                </a:solidFill>
                <a:latin typeface="Calibri" pitchFamily="34" charset="0"/>
                <a:ea typeface="Calibri" pitchFamily="34" charset="-122"/>
                <a:cs typeface="Calibri" pitchFamily="34" charset="-120"/>
              </a:rPr>
              <a:t>Trigger:  </a:t>
            </a:r>
            <a:r>
              <a:rPr lang="en-US" sz="1200" dirty="0">
                <a:solidFill>
                  <a:srgbClr val="1B1B1E"/>
                </a:solidFill>
                <a:latin typeface="Calibri" pitchFamily="34" charset="0"/>
                <a:ea typeface="Calibri" pitchFamily="34" charset="-122"/>
                <a:cs typeface="Calibri" pitchFamily="34" charset="-120"/>
              </a:rPr>
              <a:t>high angle-of-attack (AOA) reading</a:t>
            </a:r>
            <a:endParaRPr lang="en-US" sz="1200" dirty="0"/>
          </a:p>
          <a:p>
            <a:pPr marL="0" indent="0">
              <a:spcAft>
                <a:spcPts val="400"/>
              </a:spcAft>
              <a:buNone/>
            </a:pPr>
            <a:r>
              <a:rPr lang="en-US" sz="600" dirty="0">
                <a:solidFill>
                  <a:srgbClr val="000000"/>
                </a:solidFill>
                <a:latin typeface="Calibri" pitchFamily="34" charset="0"/>
                <a:ea typeface="Calibri" pitchFamily="34" charset="-122"/>
                <a:cs typeface="Calibri" pitchFamily="34" charset="-120"/>
              </a:rPr>
              <a:t> </a:t>
            </a:r>
            <a:endParaRPr lang="en-US" sz="1200" dirty="0"/>
          </a:p>
          <a:p>
            <a:pPr marL="0" indent="0">
              <a:spcAft>
                <a:spcPts val="400"/>
              </a:spcAft>
              <a:buNone/>
            </a:pPr>
            <a:r>
              <a:rPr lang="en-US" sz="1200" b="1" dirty="0">
                <a:solidFill>
                  <a:srgbClr val="0B2545"/>
                </a:solidFill>
                <a:latin typeface="Calibri" pitchFamily="34" charset="0"/>
                <a:ea typeface="Calibri" pitchFamily="34" charset="-122"/>
                <a:cs typeface="Calibri" pitchFamily="34" charset="-120"/>
              </a:rPr>
              <a:t>Action:   </a:t>
            </a:r>
            <a:r>
              <a:rPr lang="en-US" sz="1200" dirty="0">
                <a:solidFill>
                  <a:srgbClr val="1B1B1E"/>
                </a:solidFill>
                <a:latin typeface="Calibri" pitchFamily="34" charset="0"/>
                <a:ea typeface="Calibri" pitchFamily="34" charset="-122"/>
                <a:cs typeface="Calibri" pitchFamily="34" charset="-120"/>
              </a:rPr>
              <a:t>automatically pushes nose down via horizontal stabilizer</a:t>
            </a:r>
            <a:endParaRPr lang="en-US" sz="1200" dirty="0"/>
          </a:p>
          <a:p>
            <a:pPr marL="0" indent="0">
              <a:spcAft>
                <a:spcPts val="400"/>
              </a:spcAft>
              <a:buNone/>
            </a:pPr>
            <a:r>
              <a:rPr lang="en-US" sz="600" dirty="0">
                <a:solidFill>
                  <a:srgbClr val="000000"/>
                </a:solidFill>
                <a:latin typeface="Calibri" pitchFamily="34" charset="0"/>
                <a:ea typeface="Calibri" pitchFamily="34" charset="-122"/>
                <a:cs typeface="Calibri" pitchFamily="34" charset="-120"/>
              </a:rPr>
              <a:t> </a:t>
            </a:r>
            <a:endParaRPr lang="en-US" sz="1200" dirty="0"/>
          </a:p>
          <a:p>
            <a:pPr marL="0" indent="0">
              <a:spcAft>
                <a:spcPts val="400"/>
              </a:spcAft>
              <a:buNone/>
            </a:pPr>
            <a:r>
              <a:rPr lang="en-US" sz="1200" b="1" dirty="0">
                <a:solidFill>
                  <a:srgbClr val="0B2545"/>
                </a:solidFill>
                <a:latin typeface="Calibri" pitchFamily="34" charset="0"/>
                <a:ea typeface="Calibri" pitchFamily="34" charset="-122"/>
                <a:cs typeface="Calibri" pitchFamily="34" charset="-120"/>
              </a:rPr>
              <a:t>Input:    </a:t>
            </a:r>
            <a:r>
              <a:rPr lang="en-US" sz="1200" dirty="0">
                <a:solidFill>
                  <a:srgbClr val="1B1B1E"/>
                </a:solidFill>
                <a:latin typeface="Calibri" pitchFamily="34" charset="0"/>
                <a:ea typeface="Calibri" pitchFamily="34" charset="-122"/>
                <a:cs typeface="Calibri" pitchFamily="34" charset="-120"/>
              </a:rPr>
              <a:t>a single AOA sensor (no redundancy used)</a:t>
            </a:r>
            <a:endParaRPr lang="en-US" sz="1200" dirty="0"/>
          </a:p>
          <a:p>
            <a:pPr marL="0" indent="0">
              <a:spcAft>
                <a:spcPts val="400"/>
              </a:spcAft>
              <a:buNone/>
            </a:pPr>
            <a:r>
              <a:rPr lang="en-US" sz="600" dirty="0">
                <a:solidFill>
                  <a:srgbClr val="000000"/>
                </a:solidFill>
                <a:latin typeface="Calibri" pitchFamily="34" charset="0"/>
                <a:ea typeface="Calibri" pitchFamily="34" charset="-122"/>
                <a:cs typeface="Calibri" pitchFamily="34" charset="-120"/>
              </a:rPr>
              <a:t> </a:t>
            </a:r>
            <a:endParaRPr lang="en-US" sz="1200" dirty="0"/>
          </a:p>
          <a:p>
            <a:pPr marL="0" indent="0">
              <a:spcAft>
                <a:spcPts val="400"/>
              </a:spcAft>
              <a:buNone/>
            </a:pPr>
            <a:r>
              <a:rPr lang="en-US" sz="1200" b="1" dirty="0">
                <a:solidFill>
                  <a:srgbClr val="C1272D"/>
                </a:solidFill>
                <a:latin typeface="Calibri" pitchFamily="34" charset="0"/>
                <a:ea typeface="Calibri" pitchFamily="34" charset="-122"/>
                <a:cs typeface="Calibri" pitchFamily="34" charset="-120"/>
              </a:rPr>
              <a:t>Disclosed to pilots? </a:t>
            </a:r>
            <a:r>
              <a:rPr lang="en-US" sz="1200" dirty="0">
                <a:solidFill>
                  <a:srgbClr val="1B1B1E"/>
                </a:solidFill>
                <a:latin typeface="Calibri" pitchFamily="34" charset="0"/>
                <a:ea typeface="Calibri" pitchFamily="34" charset="-122"/>
                <a:cs typeface="Calibri" pitchFamily="34" charset="-120"/>
              </a:rPr>
              <a:t>No — omitted from manuals &amp; training</a:t>
            </a:r>
            <a:endParaRPr lang="en-US" sz="1200" dirty="0"/>
          </a:p>
        </p:txBody>
      </p:sp>
      <p:sp>
        <p:nvSpPr>
          <p:cNvPr id="9" name="Text 6"/>
          <p:cNvSpPr/>
          <p:nvPr/>
        </p:nvSpPr>
        <p:spPr>
          <a:xfrm>
            <a:off x="4846320" y="1325880"/>
            <a:ext cx="3840480" cy="274320"/>
          </a:xfrm>
          <a:prstGeom prst="rect">
            <a:avLst/>
          </a:prstGeom>
          <a:noFill/>
          <a:ln/>
        </p:spPr>
        <p:txBody>
          <a:bodyPr wrap="square" lIns="0" tIns="0" rIns="0" bIns="0" rtlCol="0" anchor="ctr"/>
          <a:lstStyle/>
          <a:p>
            <a:pPr marL="0" indent="0">
              <a:buNone/>
            </a:pPr>
            <a:r>
              <a:rPr lang="en-US" sz="1100" b="1" kern="0" spc="400" dirty="0">
                <a:solidFill>
                  <a:srgbClr val="F4A300"/>
                </a:solidFill>
                <a:latin typeface="Calibri" pitchFamily="34" charset="0"/>
                <a:ea typeface="Calibri" pitchFamily="34" charset="-122"/>
                <a:cs typeface="Calibri" pitchFamily="34" charset="-120"/>
              </a:rPr>
              <a:t>FAILURE CHAIN</a:t>
            </a:r>
            <a:endParaRPr lang="en-US" sz="1100" dirty="0"/>
          </a:p>
        </p:txBody>
      </p:sp>
      <p:sp>
        <p:nvSpPr>
          <p:cNvPr id="10" name="Shape 7"/>
          <p:cNvSpPr/>
          <p:nvPr/>
        </p:nvSpPr>
        <p:spPr>
          <a:xfrm>
            <a:off x="4846320" y="1737360"/>
            <a:ext cx="411480" cy="411480"/>
          </a:xfrm>
          <a:prstGeom prst="ellipse">
            <a:avLst/>
          </a:prstGeom>
          <a:solidFill>
            <a:srgbClr val="0B2545"/>
          </a:solidFill>
          <a:ln w="12700">
            <a:solidFill>
              <a:srgbClr val="0B2545"/>
            </a:solidFill>
            <a:prstDash val="solid"/>
          </a:ln>
        </p:spPr>
        <p:txBody>
          <a:bodyPr/>
          <a:lstStyle/>
          <a:p>
            <a:endParaRPr lang="en-US"/>
          </a:p>
        </p:txBody>
      </p:sp>
      <p:sp>
        <p:nvSpPr>
          <p:cNvPr id="11" name="Text 8"/>
          <p:cNvSpPr/>
          <p:nvPr/>
        </p:nvSpPr>
        <p:spPr>
          <a:xfrm>
            <a:off x="4846320" y="1737360"/>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2" name="Text 9"/>
          <p:cNvSpPr/>
          <p:nvPr/>
        </p:nvSpPr>
        <p:spPr>
          <a:xfrm>
            <a:off x="5394960" y="1691640"/>
            <a:ext cx="3291840" cy="274320"/>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Faulty AOA sensor</a:t>
            </a:r>
            <a:endParaRPr lang="en-US" sz="1300" dirty="0"/>
          </a:p>
        </p:txBody>
      </p:sp>
      <p:sp>
        <p:nvSpPr>
          <p:cNvPr id="13" name="Text 10"/>
          <p:cNvSpPr/>
          <p:nvPr/>
        </p:nvSpPr>
        <p:spPr>
          <a:xfrm>
            <a:off x="5394960" y="1984248"/>
            <a:ext cx="3291840" cy="27432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Single sensor reports false high-angle data</a:t>
            </a:r>
            <a:endParaRPr lang="en-US" sz="1100" dirty="0"/>
          </a:p>
        </p:txBody>
      </p:sp>
      <p:sp>
        <p:nvSpPr>
          <p:cNvPr id="14" name="Shape 11"/>
          <p:cNvSpPr/>
          <p:nvPr/>
        </p:nvSpPr>
        <p:spPr>
          <a:xfrm>
            <a:off x="5052060" y="2148840"/>
            <a:ext cx="0" cy="256032"/>
          </a:xfrm>
          <a:prstGeom prst="line">
            <a:avLst/>
          </a:prstGeom>
          <a:noFill/>
          <a:ln w="19050">
            <a:solidFill>
              <a:srgbClr val="8DA9C4"/>
            </a:solidFill>
            <a:prstDash val="solid"/>
          </a:ln>
        </p:spPr>
        <p:txBody>
          <a:bodyPr/>
          <a:lstStyle/>
          <a:p>
            <a:endParaRPr lang="en-US"/>
          </a:p>
        </p:txBody>
      </p:sp>
      <p:sp>
        <p:nvSpPr>
          <p:cNvPr id="15" name="Shape 12"/>
          <p:cNvSpPr/>
          <p:nvPr/>
        </p:nvSpPr>
        <p:spPr>
          <a:xfrm>
            <a:off x="4846320" y="2450592"/>
            <a:ext cx="411480" cy="411480"/>
          </a:xfrm>
          <a:prstGeom prst="ellipse">
            <a:avLst/>
          </a:prstGeom>
          <a:solidFill>
            <a:srgbClr val="0B2545"/>
          </a:solidFill>
          <a:ln w="12700">
            <a:solidFill>
              <a:srgbClr val="0B2545"/>
            </a:solidFill>
            <a:prstDash val="solid"/>
          </a:ln>
        </p:spPr>
        <p:txBody>
          <a:bodyPr/>
          <a:lstStyle/>
          <a:p>
            <a:endParaRPr lang="en-US"/>
          </a:p>
        </p:txBody>
      </p:sp>
      <p:sp>
        <p:nvSpPr>
          <p:cNvPr id="16" name="Text 13"/>
          <p:cNvSpPr/>
          <p:nvPr/>
        </p:nvSpPr>
        <p:spPr>
          <a:xfrm>
            <a:off x="4846320" y="2450592"/>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7" name="Text 14"/>
          <p:cNvSpPr/>
          <p:nvPr/>
        </p:nvSpPr>
        <p:spPr>
          <a:xfrm>
            <a:off x="5394960" y="2404872"/>
            <a:ext cx="3291840" cy="274320"/>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MCAS activates</a:t>
            </a:r>
            <a:endParaRPr lang="en-US" sz="1300" dirty="0"/>
          </a:p>
        </p:txBody>
      </p:sp>
      <p:sp>
        <p:nvSpPr>
          <p:cNvPr id="18" name="Text 15"/>
          <p:cNvSpPr/>
          <p:nvPr/>
        </p:nvSpPr>
        <p:spPr>
          <a:xfrm>
            <a:off x="5394960" y="2697480"/>
            <a:ext cx="3291840" cy="27432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System believes plane is stalling</a:t>
            </a:r>
            <a:endParaRPr lang="en-US" sz="1100" dirty="0"/>
          </a:p>
        </p:txBody>
      </p:sp>
      <p:sp>
        <p:nvSpPr>
          <p:cNvPr id="19" name="Shape 16"/>
          <p:cNvSpPr/>
          <p:nvPr/>
        </p:nvSpPr>
        <p:spPr>
          <a:xfrm>
            <a:off x="5052060" y="2862072"/>
            <a:ext cx="0" cy="256032"/>
          </a:xfrm>
          <a:prstGeom prst="line">
            <a:avLst/>
          </a:prstGeom>
          <a:noFill/>
          <a:ln w="19050">
            <a:solidFill>
              <a:srgbClr val="8DA9C4"/>
            </a:solidFill>
            <a:prstDash val="solid"/>
          </a:ln>
        </p:spPr>
        <p:txBody>
          <a:bodyPr/>
          <a:lstStyle/>
          <a:p>
            <a:endParaRPr lang="en-US"/>
          </a:p>
        </p:txBody>
      </p:sp>
      <p:sp>
        <p:nvSpPr>
          <p:cNvPr id="20" name="Shape 17"/>
          <p:cNvSpPr/>
          <p:nvPr/>
        </p:nvSpPr>
        <p:spPr>
          <a:xfrm>
            <a:off x="4846320" y="3163824"/>
            <a:ext cx="411480" cy="411480"/>
          </a:xfrm>
          <a:prstGeom prst="ellipse">
            <a:avLst/>
          </a:prstGeom>
          <a:solidFill>
            <a:srgbClr val="0B2545"/>
          </a:solidFill>
          <a:ln w="12700">
            <a:solidFill>
              <a:srgbClr val="0B2545"/>
            </a:solidFill>
            <a:prstDash val="solid"/>
          </a:ln>
        </p:spPr>
        <p:txBody>
          <a:bodyPr/>
          <a:lstStyle/>
          <a:p>
            <a:endParaRPr lang="en-US"/>
          </a:p>
        </p:txBody>
      </p:sp>
      <p:sp>
        <p:nvSpPr>
          <p:cNvPr id="21" name="Text 18"/>
          <p:cNvSpPr/>
          <p:nvPr/>
        </p:nvSpPr>
        <p:spPr>
          <a:xfrm>
            <a:off x="4846320" y="3163824"/>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2" name="Text 19"/>
          <p:cNvSpPr/>
          <p:nvPr/>
        </p:nvSpPr>
        <p:spPr>
          <a:xfrm>
            <a:off x="5394960" y="3118104"/>
            <a:ext cx="3291840" cy="274320"/>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Stabilizer trims down</a:t>
            </a:r>
            <a:endParaRPr lang="en-US" sz="1300" dirty="0"/>
          </a:p>
        </p:txBody>
      </p:sp>
      <p:sp>
        <p:nvSpPr>
          <p:cNvPr id="23" name="Text 20"/>
          <p:cNvSpPr/>
          <p:nvPr/>
        </p:nvSpPr>
        <p:spPr>
          <a:xfrm>
            <a:off x="5394960" y="3410712"/>
            <a:ext cx="3291840" cy="27432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Nose pushed toward ground</a:t>
            </a:r>
            <a:endParaRPr lang="en-US" sz="1100" dirty="0"/>
          </a:p>
        </p:txBody>
      </p:sp>
      <p:sp>
        <p:nvSpPr>
          <p:cNvPr id="24" name="Shape 21"/>
          <p:cNvSpPr/>
          <p:nvPr/>
        </p:nvSpPr>
        <p:spPr>
          <a:xfrm>
            <a:off x="5052060" y="3575304"/>
            <a:ext cx="0" cy="256032"/>
          </a:xfrm>
          <a:prstGeom prst="line">
            <a:avLst/>
          </a:prstGeom>
          <a:noFill/>
          <a:ln w="19050">
            <a:solidFill>
              <a:srgbClr val="8DA9C4"/>
            </a:solidFill>
            <a:prstDash val="solid"/>
          </a:ln>
        </p:spPr>
        <p:txBody>
          <a:bodyPr/>
          <a:lstStyle/>
          <a:p>
            <a:endParaRPr lang="en-US"/>
          </a:p>
        </p:txBody>
      </p:sp>
      <p:sp>
        <p:nvSpPr>
          <p:cNvPr id="25" name="Shape 22"/>
          <p:cNvSpPr/>
          <p:nvPr/>
        </p:nvSpPr>
        <p:spPr>
          <a:xfrm>
            <a:off x="4846320" y="3877056"/>
            <a:ext cx="411480" cy="411480"/>
          </a:xfrm>
          <a:prstGeom prst="ellipse">
            <a:avLst/>
          </a:prstGeom>
          <a:solidFill>
            <a:srgbClr val="C1272D"/>
          </a:solidFill>
          <a:ln w="12700">
            <a:solidFill>
              <a:srgbClr val="C1272D"/>
            </a:solidFill>
            <a:prstDash val="solid"/>
          </a:ln>
        </p:spPr>
        <p:txBody>
          <a:bodyPr/>
          <a:lstStyle/>
          <a:p>
            <a:endParaRPr lang="en-US"/>
          </a:p>
        </p:txBody>
      </p:sp>
      <p:sp>
        <p:nvSpPr>
          <p:cNvPr id="26" name="Text 23"/>
          <p:cNvSpPr/>
          <p:nvPr/>
        </p:nvSpPr>
        <p:spPr>
          <a:xfrm>
            <a:off x="4846320" y="3877056"/>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7" name="Text 24"/>
          <p:cNvSpPr/>
          <p:nvPr/>
        </p:nvSpPr>
        <p:spPr>
          <a:xfrm>
            <a:off x="5394960" y="3831336"/>
            <a:ext cx="3291840" cy="274320"/>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Pilots fight back</a:t>
            </a:r>
            <a:endParaRPr lang="en-US" sz="1300" dirty="0"/>
          </a:p>
        </p:txBody>
      </p:sp>
      <p:sp>
        <p:nvSpPr>
          <p:cNvPr id="28" name="Text 25"/>
          <p:cNvSpPr/>
          <p:nvPr/>
        </p:nvSpPr>
        <p:spPr>
          <a:xfrm>
            <a:off x="5394960" y="4123944"/>
            <a:ext cx="3291840" cy="27432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MCAS re-engages every ~10 seconds</a:t>
            </a:r>
            <a:endParaRPr lang="en-US" sz="1100" dirty="0"/>
          </a:p>
        </p:txBody>
      </p:sp>
      <p:sp>
        <p:nvSpPr>
          <p:cNvPr id="29" name="Text 26"/>
          <p:cNvSpPr/>
          <p:nvPr/>
        </p:nvSpPr>
        <p:spPr>
          <a:xfrm>
            <a:off x="457200" y="4846320"/>
            <a:ext cx="5486400" cy="228600"/>
          </a:xfrm>
          <a:prstGeom prst="rect">
            <a:avLst/>
          </a:prstGeom>
          <a:noFill/>
          <a:ln/>
        </p:spPr>
        <p:txBody>
          <a:bodyPr wrap="square" lIns="0" tIns="0" rIns="0" bIns="0" rtlCol="0" anchor="ctr"/>
          <a:lstStyle/>
          <a:p>
            <a:pPr marL="0" indent="0">
              <a:buNone/>
            </a:pPr>
            <a:r>
              <a:rPr lang="en-US" sz="900" dirty="0">
                <a:solidFill>
                  <a:srgbClr val="5C6B7A"/>
                </a:solidFill>
                <a:latin typeface="Calibri" pitchFamily="34" charset="0"/>
                <a:ea typeface="Calibri" pitchFamily="34" charset="-122"/>
                <a:cs typeface="Calibri" pitchFamily="34" charset="-120"/>
              </a:rPr>
              <a:t>Boeing 737 MAX  |  Engineering Ethics Case Study</a:t>
            </a:r>
            <a:endParaRPr lang="en-US" sz="900" dirty="0"/>
          </a:p>
        </p:txBody>
      </p:sp>
      <p:sp>
        <p:nvSpPr>
          <p:cNvPr id="30" name="Text 27"/>
          <p:cNvSpPr/>
          <p:nvPr/>
        </p:nvSpPr>
        <p:spPr>
          <a:xfrm>
            <a:off x="8229600" y="4846320"/>
            <a:ext cx="457200" cy="228600"/>
          </a:xfrm>
          <a:prstGeom prst="rect">
            <a:avLst/>
          </a:prstGeom>
          <a:noFill/>
          <a:ln/>
        </p:spPr>
        <p:txBody>
          <a:bodyPr wrap="square" lIns="0" tIns="0" rIns="0" bIns="0" rtlCol="0" anchor="ctr"/>
          <a:lstStyle/>
          <a:p>
            <a:pPr marL="0" indent="0" algn="r">
              <a:buNone/>
            </a:pPr>
            <a:r>
              <a:rPr lang="en-US" sz="900" dirty="0">
                <a:solidFill>
                  <a:srgbClr val="5C6B7A"/>
                </a:solidFill>
                <a:latin typeface="Calibri" pitchFamily="34" charset="0"/>
                <a:ea typeface="Calibri" pitchFamily="34" charset="-122"/>
                <a:cs typeface="Calibri" pitchFamily="34" charset="-120"/>
              </a:rPr>
              <a:t>4</a:t>
            </a:r>
            <a:endParaRPr lang="en-US" sz="900" dirty="0"/>
          </a:p>
        </p:txBody>
      </p:sp>
    </p:spTree>
    <p:extLst>
      <p:ext uri="{BB962C8B-B14F-4D97-AF65-F5344CB8AC3E}">
        <p14:creationId xmlns:p14="http://schemas.microsoft.com/office/powerpoint/2010/main" val="32013487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EF4ED"/>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228600"/>
          </a:xfrm>
          <a:prstGeom prst="rect">
            <a:avLst/>
          </a:prstGeom>
          <a:noFill/>
          <a:ln/>
        </p:spPr>
        <p:txBody>
          <a:bodyPr wrap="square" lIns="0" tIns="0" rIns="0" bIns="0" rtlCol="0" anchor="ctr"/>
          <a:lstStyle/>
          <a:p>
            <a:pPr marL="0" indent="0">
              <a:buNone/>
            </a:pPr>
            <a:r>
              <a:rPr lang="en-US" sz="1100" b="1" kern="0" spc="400" dirty="0">
                <a:solidFill>
                  <a:srgbClr val="F4A300"/>
                </a:solidFill>
                <a:latin typeface="Calibri" pitchFamily="34" charset="0"/>
                <a:ea typeface="Calibri" pitchFamily="34" charset="-122"/>
                <a:cs typeface="Calibri" pitchFamily="34" charset="-120"/>
              </a:rPr>
              <a:t>THE TRAGEDIES</a:t>
            </a:r>
            <a:endParaRPr lang="en-US" sz="1100" dirty="0"/>
          </a:p>
        </p:txBody>
      </p:sp>
      <p:sp>
        <p:nvSpPr>
          <p:cNvPr id="3" name="Text 1"/>
          <p:cNvSpPr/>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0B2545"/>
                </a:solidFill>
                <a:latin typeface="Georgia" pitchFamily="34" charset="0"/>
                <a:ea typeface="Georgia" pitchFamily="34" charset="-122"/>
                <a:cs typeface="Georgia" pitchFamily="34" charset="-120"/>
              </a:rPr>
              <a:t>Two crashes, five months apart</a:t>
            </a:r>
            <a:endParaRPr lang="en-US" sz="2800" dirty="0"/>
          </a:p>
        </p:txBody>
      </p:sp>
      <p:sp>
        <p:nvSpPr>
          <p:cNvPr id="4" name="Shape 2"/>
          <p:cNvSpPr/>
          <p:nvPr/>
        </p:nvSpPr>
        <p:spPr>
          <a:xfrm>
            <a:off x="457200" y="1234440"/>
            <a:ext cx="4023360" cy="3337560"/>
          </a:xfrm>
          <a:prstGeom prst="rect">
            <a:avLst/>
          </a:prstGeom>
          <a:solidFill>
            <a:srgbClr val="FFFFFF"/>
          </a:solidFill>
          <a:ln w="9525">
            <a:solidFill>
              <a:srgbClr val="D6DCE4"/>
            </a:solidFill>
            <a:prstDash val="solid"/>
          </a:ln>
          <a:effectLst>
            <a:outerShdw blurRad="101600" dist="25400" dir="5400000" algn="bl" rotWithShape="0">
              <a:srgbClr val="000000">
                <a:alpha val="6000"/>
              </a:srgbClr>
            </a:outerShdw>
          </a:effectLst>
        </p:spPr>
        <p:txBody>
          <a:bodyPr/>
          <a:lstStyle/>
          <a:p>
            <a:endParaRPr lang="en-US"/>
          </a:p>
        </p:txBody>
      </p:sp>
      <p:sp>
        <p:nvSpPr>
          <p:cNvPr id="5" name="Shape 3"/>
          <p:cNvSpPr/>
          <p:nvPr/>
        </p:nvSpPr>
        <p:spPr>
          <a:xfrm>
            <a:off x="457200" y="1234440"/>
            <a:ext cx="4023360" cy="73152"/>
          </a:xfrm>
          <a:prstGeom prst="rect">
            <a:avLst/>
          </a:prstGeom>
          <a:solidFill>
            <a:srgbClr val="C1272D"/>
          </a:solidFill>
          <a:ln w="12700">
            <a:solidFill>
              <a:srgbClr val="C1272D"/>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685800" y="1417320"/>
            <a:ext cx="365760" cy="365760"/>
          </a:xfrm>
          <a:prstGeom prst="rect">
            <a:avLst/>
          </a:prstGeom>
        </p:spPr>
      </p:pic>
      <p:sp>
        <p:nvSpPr>
          <p:cNvPr id="7" name="Text 4"/>
          <p:cNvSpPr/>
          <p:nvPr/>
        </p:nvSpPr>
        <p:spPr>
          <a:xfrm>
            <a:off x="1188720" y="1371600"/>
            <a:ext cx="3200400" cy="365760"/>
          </a:xfrm>
          <a:prstGeom prst="rect">
            <a:avLst/>
          </a:prstGeom>
          <a:noFill/>
          <a:ln/>
        </p:spPr>
        <p:txBody>
          <a:bodyPr wrap="square" lIns="0" tIns="0" rIns="0" bIns="0" rtlCol="0" anchor="ctr"/>
          <a:lstStyle/>
          <a:p>
            <a:pPr marL="0" indent="0">
              <a:buNone/>
            </a:pPr>
            <a:r>
              <a:rPr lang="en-US" sz="1800" b="1" dirty="0">
                <a:solidFill>
                  <a:srgbClr val="0B2545"/>
                </a:solidFill>
                <a:latin typeface="Georgia" pitchFamily="34" charset="0"/>
                <a:ea typeface="Georgia" pitchFamily="34" charset="-122"/>
                <a:cs typeface="Georgia" pitchFamily="34" charset="-120"/>
              </a:rPr>
              <a:t>LION AIR 610</a:t>
            </a:r>
            <a:endParaRPr lang="en-US" sz="1800" dirty="0"/>
          </a:p>
        </p:txBody>
      </p:sp>
      <p:sp>
        <p:nvSpPr>
          <p:cNvPr id="8" name="Text 5"/>
          <p:cNvSpPr/>
          <p:nvPr/>
        </p:nvSpPr>
        <p:spPr>
          <a:xfrm>
            <a:off x="1188720" y="1719072"/>
            <a:ext cx="3200400" cy="22860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October 29, 2018</a:t>
            </a:r>
            <a:endParaRPr lang="en-US" sz="1100" dirty="0"/>
          </a:p>
        </p:txBody>
      </p:sp>
      <p:sp>
        <p:nvSpPr>
          <p:cNvPr id="9" name="Text 6"/>
          <p:cNvSpPr/>
          <p:nvPr/>
        </p:nvSpPr>
        <p:spPr>
          <a:xfrm>
            <a:off x="640080" y="2103120"/>
            <a:ext cx="1920240" cy="640080"/>
          </a:xfrm>
          <a:prstGeom prst="rect">
            <a:avLst/>
          </a:prstGeom>
          <a:noFill/>
          <a:ln/>
        </p:spPr>
        <p:txBody>
          <a:bodyPr wrap="square" lIns="0" tIns="0" rIns="0" bIns="0" rtlCol="0" anchor="ctr"/>
          <a:lstStyle/>
          <a:p>
            <a:pPr marL="0" indent="0" algn="ctr">
              <a:buNone/>
            </a:pPr>
            <a:r>
              <a:rPr lang="en-US" sz="4800" b="1" dirty="0">
                <a:solidFill>
                  <a:srgbClr val="C1272D"/>
                </a:solidFill>
                <a:latin typeface="Georgia" pitchFamily="34" charset="0"/>
                <a:ea typeface="Georgia" pitchFamily="34" charset="-122"/>
                <a:cs typeface="Georgia" pitchFamily="34" charset="-120"/>
              </a:rPr>
              <a:t>189</a:t>
            </a:r>
            <a:endParaRPr lang="en-US" sz="4800" dirty="0"/>
          </a:p>
        </p:txBody>
      </p:sp>
      <p:sp>
        <p:nvSpPr>
          <p:cNvPr id="10" name="Text 7"/>
          <p:cNvSpPr/>
          <p:nvPr/>
        </p:nvSpPr>
        <p:spPr>
          <a:xfrm>
            <a:off x="640080" y="2743200"/>
            <a:ext cx="1920240" cy="274320"/>
          </a:xfrm>
          <a:prstGeom prst="rect">
            <a:avLst/>
          </a:prstGeom>
          <a:noFill/>
          <a:ln/>
        </p:spPr>
        <p:txBody>
          <a:bodyPr wrap="square" lIns="0" tIns="0" rIns="0" bIns="0" rtlCol="0" anchor="ctr"/>
          <a:lstStyle/>
          <a:p>
            <a:pPr marL="0" indent="0" algn="ctr">
              <a:buNone/>
            </a:pPr>
            <a:r>
              <a:rPr lang="en-US" sz="1100" i="1" dirty="0">
                <a:solidFill>
                  <a:srgbClr val="5C6B7A"/>
                </a:solidFill>
                <a:latin typeface="Calibri" pitchFamily="34" charset="0"/>
                <a:ea typeface="Calibri" pitchFamily="34" charset="-122"/>
                <a:cs typeface="Calibri" pitchFamily="34" charset="-120"/>
              </a:rPr>
              <a:t>lives lost</a:t>
            </a:r>
            <a:endParaRPr lang="en-US" sz="1100" dirty="0"/>
          </a:p>
        </p:txBody>
      </p:sp>
      <p:sp>
        <p:nvSpPr>
          <p:cNvPr id="11" name="Text 8"/>
          <p:cNvSpPr/>
          <p:nvPr/>
        </p:nvSpPr>
        <p:spPr>
          <a:xfrm>
            <a:off x="2606040" y="2148840"/>
            <a:ext cx="1783080" cy="1005840"/>
          </a:xfrm>
          <a:prstGeom prst="rect">
            <a:avLst/>
          </a:prstGeom>
          <a:noFill/>
          <a:ln/>
        </p:spPr>
        <p:txBody>
          <a:bodyPr wrap="square" lIns="0" tIns="0" rIns="0" bIns="0" rtlCol="0" anchor="ctr"/>
          <a:lstStyle/>
          <a:p>
            <a:pPr marL="0" indent="0">
              <a:spcAft>
                <a:spcPts val="200"/>
              </a:spcAft>
              <a:buNone/>
            </a:pPr>
            <a:r>
              <a:rPr lang="en-US" sz="900" b="1" kern="0" spc="300" dirty="0">
                <a:solidFill>
                  <a:srgbClr val="F4A300"/>
                </a:solidFill>
                <a:latin typeface="Calibri" pitchFamily="34" charset="0"/>
                <a:ea typeface="Calibri" pitchFamily="34" charset="-122"/>
                <a:cs typeface="Calibri" pitchFamily="34" charset="-120"/>
              </a:rPr>
              <a:t>ROUTE</a:t>
            </a:r>
            <a:endParaRPr lang="en-US" sz="900" dirty="0"/>
          </a:p>
          <a:p>
            <a:pPr marL="0" indent="0">
              <a:spcAft>
                <a:spcPts val="200"/>
              </a:spcAft>
              <a:buNone/>
            </a:pPr>
            <a:r>
              <a:rPr lang="en-US" sz="1200" dirty="0">
                <a:solidFill>
                  <a:srgbClr val="1B1B1E"/>
                </a:solidFill>
                <a:latin typeface="Calibri" pitchFamily="34" charset="0"/>
                <a:ea typeface="Calibri" pitchFamily="34" charset="-122"/>
                <a:cs typeface="Calibri" pitchFamily="34" charset="-120"/>
              </a:rPr>
              <a:t>Jakarta → Pangkal Pinang</a:t>
            </a:r>
            <a:endParaRPr lang="en-US" sz="900" dirty="0"/>
          </a:p>
          <a:p>
            <a:pPr marL="0" indent="0">
              <a:spcAft>
                <a:spcPts val="200"/>
              </a:spcAft>
              <a:buNone/>
            </a:pPr>
            <a:r>
              <a:rPr lang="en-US" sz="400" dirty="0">
                <a:solidFill>
                  <a:srgbClr val="000000"/>
                </a:solidFill>
                <a:latin typeface="Calibri" pitchFamily="34" charset="0"/>
                <a:ea typeface="Calibri" pitchFamily="34" charset="-122"/>
                <a:cs typeface="Calibri" pitchFamily="34" charset="-120"/>
              </a:rPr>
              <a:t> </a:t>
            </a:r>
            <a:endParaRPr lang="en-US" sz="900" dirty="0"/>
          </a:p>
          <a:p>
            <a:pPr marL="0" indent="0">
              <a:spcAft>
                <a:spcPts val="200"/>
              </a:spcAft>
              <a:buNone/>
            </a:pPr>
            <a:r>
              <a:rPr lang="en-US" sz="900" b="1" kern="0" spc="300" dirty="0">
                <a:solidFill>
                  <a:srgbClr val="F4A300"/>
                </a:solidFill>
                <a:latin typeface="Calibri" pitchFamily="34" charset="0"/>
                <a:ea typeface="Calibri" pitchFamily="34" charset="-122"/>
                <a:cs typeface="Calibri" pitchFamily="34" charset="-120"/>
              </a:rPr>
              <a:t>FLIGHT TIME</a:t>
            </a:r>
            <a:endParaRPr lang="en-US" sz="900" dirty="0"/>
          </a:p>
          <a:p>
            <a:pPr marL="0" indent="0">
              <a:spcAft>
                <a:spcPts val="200"/>
              </a:spcAft>
              <a:buNone/>
            </a:pPr>
            <a:r>
              <a:rPr lang="en-US" sz="1200" dirty="0">
                <a:solidFill>
                  <a:srgbClr val="1B1B1E"/>
                </a:solidFill>
                <a:latin typeface="Calibri" pitchFamily="34" charset="0"/>
                <a:ea typeface="Calibri" pitchFamily="34" charset="-122"/>
                <a:cs typeface="Calibri" pitchFamily="34" charset="-120"/>
              </a:rPr>
              <a:t>11 minutes after takeoff</a:t>
            </a:r>
            <a:endParaRPr lang="en-US" sz="900" dirty="0"/>
          </a:p>
        </p:txBody>
      </p:sp>
      <p:sp>
        <p:nvSpPr>
          <p:cNvPr id="12" name="Text 9"/>
          <p:cNvSpPr/>
          <p:nvPr/>
        </p:nvSpPr>
        <p:spPr>
          <a:xfrm>
            <a:off x="685800" y="3246120"/>
            <a:ext cx="3611880" cy="1234440"/>
          </a:xfrm>
          <a:prstGeom prst="rect">
            <a:avLst/>
          </a:prstGeom>
          <a:noFill/>
          <a:ln/>
        </p:spPr>
        <p:txBody>
          <a:bodyPr wrap="square" lIns="0" tIns="0" rIns="0" bIns="0" rtlCol="0" anchor="ctr"/>
          <a:lstStyle/>
          <a:p>
            <a:pPr marL="0" indent="0">
              <a:buNone/>
            </a:pPr>
            <a:r>
              <a:rPr lang="en-US" sz="1100" dirty="0">
                <a:solidFill>
                  <a:srgbClr val="1B1B1E"/>
                </a:solidFill>
                <a:latin typeface="Calibri" pitchFamily="34" charset="0"/>
                <a:ea typeface="Calibri" pitchFamily="34" charset="-122"/>
                <a:cs typeface="Calibri" pitchFamily="34" charset="-120"/>
              </a:rPr>
              <a:t>Crashed into the Java Sea. Investigators traced the cause to a faulty AOA sensor and repeated MCAS activations the pilots could not diagnose.</a:t>
            </a:r>
            <a:endParaRPr lang="en-US" sz="1100" dirty="0"/>
          </a:p>
        </p:txBody>
      </p:sp>
      <p:sp>
        <p:nvSpPr>
          <p:cNvPr id="13" name="Shape 10"/>
          <p:cNvSpPr/>
          <p:nvPr/>
        </p:nvSpPr>
        <p:spPr>
          <a:xfrm>
            <a:off x="4663440" y="1234440"/>
            <a:ext cx="4023360" cy="3337560"/>
          </a:xfrm>
          <a:prstGeom prst="rect">
            <a:avLst/>
          </a:prstGeom>
          <a:solidFill>
            <a:srgbClr val="FFFFFF"/>
          </a:solidFill>
          <a:ln w="9525">
            <a:solidFill>
              <a:srgbClr val="D6DCE4"/>
            </a:solidFill>
            <a:prstDash val="solid"/>
          </a:ln>
          <a:effectLst>
            <a:outerShdw blurRad="101600" dist="25400" dir="5400000" algn="bl" rotWithShape="0">
              <a:srgbClr val="000000">
                <a:alpha val="6000"/>
              </a:srgbClr>
            </a:outerShdw>
          </a:effectLst>
        </p:spPr>
        <p:txBody>
          <a:bodyPr/>
          <a:lstStyle/>
          <a:p>
            <a:endParaRPr lang="en-US"/>
          </a:p>
        </p:txBody>
      </p:sp>
      <p:sp>
        <p:nvSpPr>
          <p:cNvPr id="14" name="Shape 11"/>
          <p:cNvSpPr/>
          <p:nvPr/>
        </p:nvSpPr>
        <p:spPr>
          <a:xfrm>
            <a:off x="4663440" y="1234440"/>
            <a:ext cx="4023360" cy="73152"/>
          </a:xfrm>
          <a:prstGeom prst="rect">
            <a:avLst/>
          </a:prstGeom>
          <a:solidFill>
            <a:srgbClr val="C1272D"/>
          </a:solidFill>
          <a:ln w="12700">
            <a:solidFill>
              <a:srgbClr val="C1272D"/>
            </a:solidFill>
            <a:prstDash val="solid"/>
          </a:ln>
        </p:spPr>
        <p:txBody>
          <a:bodyPr/>
          <a:lstStyle/>
          <a:p>
            <a:endParaRPr lang="en-US"/>
          </a:p>
        </p:txBody>
      </p:sp>
      <p:pic>
        <p:nvPicPr>
          <p:cNvPr id="15" name="Image 1" descr="preencoded.png"/>
          <p:cNvPicPr>
            <a:picLocks noChangeAspect="1"/>
          </p:cNvPicPr>
          <p:nvPr/>
        </p:nvPicPr>
        <p:blipFill>
          <a:blip r:embed="rId3"/>
          <a:stretch>
            <a:fillRect/>
          </a:stretch>
        </p:blipFill>
        <p:spPr>
          <a:xfrm>
            <a:off x="4892040" y="1417320"/>
            <a:ext cx="365760" cy="365760"/>
          </a:xfrm>
          <a:prstGeom prst="rect">
            <a:avLst/>
          </a:prstGeom>
        </p:spPr>
      </p:pic>
      <p:sp>
        <p:nvSpPr>
          <p:cNvPr id="16" name="Text 12"/>
          <p:cNvSpPr/>
          <p:nvPr/>
        </p:nvSpPr>
        <p:spPr>
          <a:xfrm>
            <a:off x="5394960" y="1371600"/>
            <a:ext cx="3200400" cy="365760"/>
          </a:xfrm>
          <a:prstGeom prst="rect">
            <a:avLst/>
          </a:prstGeom>
          <a:noFill/>
          <a:ln/>
        </p:spPr>
        <p:txBody>
          <a:bodyPr wrap="square" lIns="0" tIns="0" rIns="0" bIns="0" rtlCol="0" anchor="ctr"/>
          <a:lstStyle/>
          <a:p>
            <a:pPr marL="0" indent="0">
              <a:buNone/>
            </a:pPr>
            <a:r>
              <a:rPr lang="en-US" sz="1800" b="1" dirty="0">
                <a:solidFill>
                  <a:srgbClr val="0B2545"/>
                </a:solidFill>
                <a:latin typeface="Georgia" pitchFamily="34" charset="0"/>
                <a:ea typeface="Georgia" pitchFamily="34" charset="-122"/>
                <a:cs typeface="Georgia" pitchFamily="34" charset="-120"/>
              </a:rPr>
              <a:t>ETHIOPIAN 302</a:t>
            </a:r>
            <a:endParaRPr lang="en-US" sz="1800" dirty="0"/>
          </a:p>
        </p:txBody>
      </p:sp>
      <p:sp>
        <p:nvSpPr>
          <p:cNvPr id="17" name="Text 13"/>
          <p:cNvSpPr/>
          <p:nvPr/>
        </p:nvSpPr>
        <p:spPr>
          <a:xfrm>
            <a:off x="5394960" y="1719072"/>
            <a:ext cx="3200400" cy="22860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March 10, 2019</a:t>
            </a:r>
            <a:endParaRPr lang="en-US" sz="1100" dirty="0"/>
          </a:p>
        </p:txBody>
      </p:sp>
      <p:sp>
        <p:nvSpPr>
          <p:cNvPr id="18" name="Text 14"/>
          <p:cNvSpPr/>
          <p:nvPr/>
        </p:nvSpPr>
        <p:spPr>
          <a:xfrm>
            <a:off x="4846320" y="2103120"/>
            <a:ext cx="1920240" cy="640080"/>
          </a:xfrm>
          <a:prstGeom prst="rect">
            <a:avLst/>
          </a:prstGeom>
          <a:noFill/>
          <a:ln/>
        </p:spPr>
        <p:txBody>
          <a:bodyPr wrap="square" lIns="0" tIns="0" rIns="0" bIns="0" rtlCol="0" anchor="ctr"/>
          <a:lstStyle/>
          <a:p>
            <a:pPr marL="0" indent="0" algn="ctr">
              <a:buNone/>
            </a:pPr>
            <a:r>
              <a:rPr lang="en-US" sz="4800" b="1" dirty="0">
                <a:solidFill>
                  <a:srgbClr val="C1272D"/>
                </a:solidFill>
                <a:latin typeface="Georgia" pitchFamily="34" charset="0"/>
                <a:ea typeface="Georgia" pitchFamily="34" charset="-122"/>
                <a:cs typeface="Georgia" pitchFamily="34" charset="-120"/>
              </a:rPr>
              <a:t>157</a:t>
            </a:r>
            <a:endParaRPr lang="en-US" sz="4800" dirty="0"/>
          </a:p>
        </p:txBody>
      </p:sp>
      <p:sp>
        <p:nvSpPr>
          <p:cNvPr id="19" name="Text 15"/>
          <p:cNvSpPr/>
          <p:nvPr/>
        </p:nvSpPr>
        <p:spPr>
          <a:xfrm>
            <a:off x="4846320" y="2743200"/>
            <a:ext cx="1920240" cy="274320"/>
          </a:xfrm>
          <a:prstGeom prst="rect">
            <a:avLst/>
          </a:prstGeom>
          <a:noFill/>
          <a:ln/>
        </p:spPr>
        <p:txBody>
          <a:bodyPr wrap="square" lIns="0" tIns="0" rIns="0" bIns="0" rtlCol="0" anchor="ctr"/>
          <a:lstStyle/>
          <a:p>
            <a:pPr marL="0" indent="0" algn="ctr">
              <a:buNone/>
            </a:pPr>
            <a:r>
              <a:rPr lang="en-US" sz="1100" i="1" dirty="0">
                <a:solidFill>
                  <a:srgbClr val="5C6B7A"/>
                </a:solidFill>
                <a:latin typeface="Calibri" pitchFamily="34" charset="0"/>
                <a:ea typeface="Calibri" pitchFamily="34" charset="-122"/>
                <a:cs typeface="Calibri" pitchFamily="34" charset="-120"/>
              </a:rPr>
              <a:t>lives lost</a:t>
            </a:r>
            <a:endParaRPr lang="en-US" sz="1100" dirty="0"/>
          </a:p>
        </p:txBody>
      </p:sp>
      <p:sp>
        <p:nvSpPr>
          <p:cNvPr id="20" name="Text 16"/>
          <p:cNvSpPr/>
          <p:nvPr/>
        </p:nvSpPr>
        <p:spPr>
          <a:xfrm>
            <a:off x="6812280" y="2148840"/>
            <a:ext cx="1783080" cy="1005840"/>
          </a:xfrm>
          <a:prstGeom prst="rect">
            <a:avLst/>
          </a:prstGeom>
          <a:noFill/>
          <a:ln/>
        </p:spPr>
        <p:txBody>
          <a:bodyPr wrap="square" lIns="0" tIns="0" rIns="0" bIns="0" rtlCol="0" anchor="ctr"/>
          <a:lstStyle/>
          <a:p>
            <a:pPr marL="0" indent="0">
              <a:spcAft>
                <a:spcPts val="200"/>
              </a:spcAft>
              <a:buNone/>
            </a:pPr>
            <a:r>
              <a:rPr lang="en-US" sz="900" b="1" kern="0" spc="300" dirty="0">
                <a:solidFill>
                  <a:srgbClr val="F4A300"/>
                </a:solidFill>
                <a:latin typeface="Calibri" pitchFamily="34" charset="0"/>
                <a:ea typeface="Calibri" pitchFamily="34" charset="-122"/>
                <a:cs typeface="Calibri" pitchFamily="34" charset="-120"/>
              </a:rPr>
              <a:t>ROUTE</a:t>
            </a:r>
            <a:endParaRPr lang="en-US" sz="900" dirty="0"/>
          </a:p>
          <a:p>
            <a:pPr marL="0" indent="0">
              <a:spcAft>
                <a:spcPts val="200"/>
              </a:spcAft>
              <a:buNone/>
            </a:pPr>
            <a:r>
              <a:rPr lang="en-US" sz="1200" dirty="0">
                <a:solidFill>
                  <a:srgbClr val="1B1B1E"/>
                </a:solidFill>
                <a:latin typeface="Calibri" pitchFamily="34" charset="0"/>
                <a:ea typeface="Calibri" pitchFamily="34" charset="-122"/>
                <a:cs typeface="Calibri" pitchFamily="34" charset="-120"/>
              </a:rPr>
              <a:t>Addis Ababa → Nairobi</a:t>
            </a:r>
            <a:endParaRPr lang="en-US" sz="900" dirty="0"/>
          </a:p>
          <a:p>
            <a:pPr marL="0" indent="0">
              <a:spcAft>
                <a:spcPts val="200"/>
              </a:spcAft>
              <a:buNone/>
            </a:pPr>
            <a:r>
              <a:rPr lang="en-US" sz="400" dirty="0">
                <a:solidFill>
                  <a:srgbClr val="000000"/>
                </a:solidFill>
                <a:latin typeface="Calibri" pitchFamily="34" charset="0"/>
                <a:ea typeface="Calibri" pitchFamily="34" charset="-122"/>
                <a:cs typeface="Calibri" pitchFamily="34" charset="-120"/>
              </a:rPr>
              <a:t> </a:t>
            </a:r>
            <a:endParaRPr lang="en-US" sz="900" dirty="0"/>
          </a:p>
          <a:p>
            <a:pPr marL="0" indent="0">
              <a:spcAft>
                <a:spcPts val="200"/>
              </a:spcAft>
              <a:buNone/>
            </a:pPr>
            <a:r>
              <a:rPr lang="en-US" sz="900" b="1" kern="0" spc="300" dirty="0">
                <a:solidFill>
                  <a:srgbClr val="F4A300"/>
                </a:solidFill>
                <a:latin typeface="Calibri" pitchFamily="34" charset="0"/>
                <a:ea typeface="Calibri" pitchFamily="34" charset="-122"/>
                <a:cs typeface="Calibri" pitchFamily="34" charset="-120"/>
              </a:rPr>
              <a:t>FLIGHT TIME</a:t>
            </a:r>
            <a:endParaRPr lang="en-US" sz="900" dirty="0"/>
          </a:p>
          <a:p>
            <a:pPr marL="0" indent="0">
              <a:spcAft>
                <a:spcPts val="200"/>
              </a:spcAft>
              <a:buNone/>
            </a:pPr>
            <a:r>
              <a:rPr lang="en-US" sz="1200" dirty="0">
                <a:solidFill>
                  <a:srgbClr val="1B1B1E"/>
                </a:solidFill>
                <a:latin typeface="Calibri" pitchFamily="34" charset="0"/>
                <a:ea typeface="Calibri" pitchFamily="34" charset="-122"/>
                <a:cs typeface="Calibri" pitchFamily="34" charset="-120"/>
              </a:rPr>
              <a:t>6 minutes after takeoff</a:t>
            </a:r>
            <a:endParaRPr lang="en-US" sz="900" dirty="0"/>
          </a:p>
        </p:txBody>
      </p:sp>
      <p:sp>
        <p:nvSpPr>
          <p:cNvPr id="21" name="Text 17"/>
          <p:cNvSpPr/>
          <p:nvPr/>
        </p:nvSpPr>
        <p:spPr>
          <a:xfrm>
            <a:off x="4892040" y="3246120"/>
            <a:ext cx="3611880" cy="1234440"/>
          </a:xfrm>
          <a:prstGeom prst="rect">
            <a:avLst/>
          </a:prstGeom>
          <a:noFill/>
          <a:ln/>
        </p:spPr>
        <p:txBody>
          <a:bodyPr wrap="square" lIns="0" tIns="0" rIns="0" bIns="0" rtlCol="0" anchor="ctr"/>
          <a:lstStyle/>
          <a:p>
            <a:pPr marL="0" indent="0">
              <a:buNone/>
            </a:pPr>
            <a:r>
              <a:rPr lang="en-US" sz="1100" dirty="0">
                <a:solidFill>
                  <a:srgbClr val="1B1B1E"/>
                </a:solidFill>
                <a:latin typeface="Calibri" pitchFamily="34" charset="0"/>
                <a:ea typeface="Calibri" pitchFamily="34" charset="-122"/>
                <a:cs typeface="Calibri" pitchFamily="34" charset="-120"/>
              </a:rPr>
              <a:t>Crashed in a field 39 mi from departure. Crew followed Boeing's post-Lion Air checklist but could not recover; the MAX fleet was grounded worldwide within days.</a:t>
            </a:r>
            <a:endParaRPr lang="en-US" sz="1100" dirty="0"/>
          </a:p>
        </p:txBody>
      </p:sp>
      <p:sp>
        <p:nvSpPr>
          <p:cNvPr id="22" name="Text 18"/>
          <p:cNvSpPr/>
          <p:nvPr/>
        </p:nvSpPr>
        <p:spPr>
          <a:xfrm>
            <a:off x="457200" y="4846320"/>
            <a:ext cx="5486400" cy="228600"/>
          </a:xfrm>
          <a:prstGeom prst="rect">
            <a:avLst/>
          </a:prstGeom>
          <a:noFill/>
          <a:ln/>
        </p:spPr>
        <p:txBody>
          <a:bodyPr wrap="square" lIns="0" tIns="0" rIns="0" bIns="0" rtlCol="0" anchor="ctr"/>
          <a:lstStyle/>
          <a:p>
            <a:pPr marL="0" indent="0">
              <a:buNone/>
            </a:pPr>
            <a:r>
              <a:rPr lang="en-US" sz="900" dirty="0">
                <a:solidFill>
                  <a:srgbClr val="5C6B7A"/>
                </a:solidFill>
                <a:latin typeface="Calibri" pitchFamily="34" charset="0"/>
                <a:ea typeface="Calibri" pitchFamily="34" charset="-122"/>
                <a:cs typeface="Calibri" pitchFamily="34" charset="-120"/>
              </a:rPr>
              <a:t>Boeing 737 MAX  |  Engineering Ethics Case Study</a:t>
            </a:r>
            <a:endParaRPr lang="en-US" sz="900" dirty="0"/>
          </a:p>
        </p:txBody>
      </p:sp>
      <p:sp>
        <p:nvSpPr>
          <p:cNvPr id="23" name="Text 19"/>
          <p:cNvSpPr/>
          <p:nvPr/>
        </p:nvSpPr>
        <p:spPr>
          <a:xfrm>
            <a:off x="8229600" y="4846320"/>
            <a:ext cx="457200" cy="228600"/>
          </a:xfrm>
          <a:prstGeom prst="rect">
            <a:avLst/>
          </a:prstGeom>
          <a:noFill/>
          <a:ln/>
        </p:spPr>
        <p:txBody>
          <a:bodyPr wrap="square" lIns="0" tIns="0" rIns="0" bIns="0" rtlCol="0" anchor="ctr"/>
          <a:lstStyle/>
          <a:p>
            <a:pPr marL="0" indent="0" algn="r">
              <a:buNone/>
            </a:pPr>
            <a:r>
              <a:rPr lang="en-US" sz="900" dirty="0">
                <a:solidFill>
                  <a:srgbClr val="5C6B7A"/>
                </a:solidFill>
                <a:latin typeface="Calibri" pitchFamily="34" charset="0"/>
                <a:ea typeface="Calibri" pitchFamily="34" charset="-122"/>
                <a:cs typeface="Calibri" pitchFamily="34" charset="-120"/>
              </a:rPr>
              <a:t>5</a:t>
            </a:r>
            <a:endParaRPr lang="en-US" sz="900" dirty="0"/>
          </a:p>
        </p:txBody>
      </p:sp>
    </p:spTree>
    <p:extLst>
      <p:ext uri="{BB962C8B-B14F-4D97-AF65-F5344CB8AC3E}">
        <p14:creationId xmlns:p14="http://schemas.microsoft.com/office/powerpoint/2010/main" val="36533400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F4ED"/>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228600"/>
          </a:xfrm>
          <a:prstGeom prst="rect">
            <a:avLst/>
          </a:prstGeom>
          <a:noFill/>
          <a:ln/>
        </p:spPr>
        <p:txBody>
          <a:bodyPr wrap="square" lIns="0" tIns="0" rIns="0" bIns="0" rtlCol="0" anchor="ctr"/>
          <a:lstStyle/>
          <a:p>
            <a:pPr marL="0" indent="0">
              <a:buNone/>
            </a:pPr>
            <a:r>
              <a:rPr lang="en-US" sz="1100" b="1" kern="0" spc="400" dirty="0">
                <a:solidFill>
                  <a:srgbClr val="F4A300"/>
                </a:solidFill>
                <a:latin typeface="Calibri" pitchFamily="34" charset="0"/>
                <a:ea typeface="Calibri" pitchFamily="34" charset="-122"/>
                <a:cs typeface="Calibri" pitchFamily="34" charset="-120"/>
              </a:rPr>
              <a:t>ROOT CAUSES</a:t>
            </a:r>
            <a:endParaRPr lang="en-US" sz="1100" dirty="0"/>
          </a:p>
        </p:txBody>
      </p:sp>
      <p:sp>
        <p:nvSpPr>
          <p:cNvPr id="3" name="Text 1"/>
          <p:cNvSpPr/>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0B2545"/>
                </a:solidFill>
                <a:latin typeface="Georgia" pitchFamily="34" charset="0"/>
                <a:ea typeface="Georgia" pitchFamily="34" charset="-122"/>
                <a:cs typeface="Georgia" pitchFamily="34" charset="-120"/>
              </a:rPr>
              <a:t>What went wrong</a:t>
            </a:r>
            <a:endParaRPr lang="en-US" sz="2800" dirty="0"/>
          </a:p>
        </p:txBody>
      </p:sp>
      <p:sp>
        <p:nvSpPr>
          <p:cNvPr id="4" name="Shape 2"/>
          <p:cNvSpPr/>
          <p:nvPr/>
        </p:nvSpPr>
        <p:spPr>
          <a:xfrm>
            <a:off x="457200" y="1280160"/>
            <a:ext cx="4023360" cy="1600200"/>
          </a:xfrm>
          <a:prstGeom prst="rect">
            <a:avLst/>
          </a:prstGeom>
          <a:solidFill>
            <a:srgbClr val="FFFFFF"/>
          </a:solidFill>
          <a:ln w="9525">
            <a:solidFill>
              <a:srgbClr val="D6DCE4"/>
            </a:solidFill>
            <a:prstDash val="solid"/>
          </a:ln>
          <a:effectLst>
            <a:outerShdw blurRad="76200" dist="25400" dir="5400000" algn="bl" rotWithShape="0">
              <a:srgbClr val="000000">
                <a:alpha val="6000"/>
              </a:srgbClr>
            </a:outerShdw>
          </a:effectLst>
        </p:spPr>
        <p:txBody>
          <a:bodyPr/>
          <a:lstStyle/>
          <a:p>
            <a:endParaRPr lang="en-US"/>
          </a:p>
        </p:txBody>
      </p:sp>
      <p:sp>
        <p:nvSpPr>
          <p:cNvPr id="5" name="Shape 3"/>
          <p:cNvSpPr/>
          <p:nvPr/>
        </p:nvSpPr>
        <p:spPr>
          <a:xfrm>
            <a:off x="457200" y="1280160"/>
            <a:ext cx="4023360" cy="54864"/>
          </a:xfrm>
          <a:prstGeom prst="rect">
            <a:avLst/>
          </a:prstGeom>
          <a:solidFill>
            <a:srgbClr val="F4A300"/>
          </a:solidFill>
          <a:ln w="12700">
            <a:solidFill>
              <a:srgbClr val="F4A30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685800" y="1554480"/>
            <a:ext cx="411480" cy="411480"/>
          </a:xfrm>
          <a:prstGeom prst="rect">
            <a:avLst/>
          </a:prstGeom>
        </p:spPr>
      </p:pic>
      <p:sp>
        <p:nvSpPr>
          <p:cNvPr id="7" name="Text 4"/>
          <p:cNvSpPr/>
          <p:nvPr/>
        </p:nvSpPr>
        <p:spPr>
          <a:xfrm>
            <a:off x="1234440" y="1536192"/>
            <a:ext cx="3108960" cy="365760"/>
          </a:xfrm>
          <a:prstGeom prst="rect">
            <a:avLst/>
          </a:prstGeom>
          <a:noFill/>
          <a:ln/>
        </p:spPr>
        <p:txBody>
          <a:bodyPr wrap="square" lIns="0" tIns="0" rIns="0" bIns="0" rtlCol="0" anchor="ctr"/>
          <a:lstStyle/>
          <a:p>
            <a:pPr marL="0" indent="0">
              <a:buNone/>
            </a:pPr>
            <a:r>
              <a:rPr lang="en-US" sz="1500" b="1" dirty="0">
                <a:solidFill>
                  <a:srgbClr val="0B2545"/>
                </a:solidFill>
                <a:latin typeface="Georgia" pitchFamily="34" charset="0"/>
                <a:ea typeface="Georgia" pitchFamily="34" charset="-122"/>
                <a:cs typeface="Georgia" pitchFamily="34" charset="-120"/>
              </a:rPr>
              <a:t>Single-Point Sensor Design</a:t>
            </a:r>
            <a:endParaRPr lang="en-US" sz="1500" dirty="0"/>
          </a:p>
        </p:txBody>
      </p:sp>
      <p:sp>
        <p:nvSpPr>
          <p:cNvPr id="8" name="Text 5"/>
          <p:cNvSpPr/>
          <p:nvPr/>
        </p:nvSpPr>
        <p:spPr>
          <a:xfrm>
            <a:off x="731520" y="2057400"/>
            <a:ext cx="3520440" cy="777240"/>
          </a:xfrm>
          <a:prstGeom prst="rect">
            <a:avLst/>
          </a:prstGeom>
          <a:noFill/>
          <a:ln/>
        </p:spPr>
        <p:txBody>
          <a:bodyPr wrap="square" lIns="0" tIns="0" rIns="0" bIns="0" rtlCol="0" anchor="ctr"/>
          <a:lstStyle/>
          <a:p>
            <a:pPr marL="0" indent="0">
              <a:buNone/>
            </a:pPr>
            <a:r>
              <a:rPr lang="en-US" sz="1200" dirty="0">
                <a:solidFill>
                  <a:srgbClr val="1B1B1E"/>
                </a:solidFill>
                <a:latin typeface="Calibri" pitchFamily="34" charset="0"/>
                <a:ea typeface="Calibri" pitchFamily="34" charset="-122"/>
                <a:cs typeface="Calibri" pitchFamily="34" charset="-120"/>
              </a:rPr>
              <a:t>MCAS relied on input from one AOA sensor — no cross-check. A single faulty reading was enough to trigger a fatal command.</a:t>
            </a:r>
            <a:endParaRPr lang="en-US" sz="1200" dirty="0"/>
          </a:p>
        </p:txBody>
      </p:sp>
      <p:sp>
        <p:nvSpPr>
          <p:cNvPr id="9" name="Shape 6"/>
          <p:cNvSpPr/>
          <p:nvPr/>
        </p:nvSpPr>
        <p:spPr>
          <a:xfrm>
            <a:off x="4663440" y="1280160"/>
            <a:ext cx="4023360" cy="1600200"/>
          </a:xfrm>
          <a:prstGeom prst="rect">
            <a:avLst/>
          </a:prstGeom>
          <a:solidFill>
            <a:srgbClr val="FFFFFF"/>
          </a:solidFill>
          <a:ln w="9525">
            <a:solidFill>
              <a:srgbClr val="D6DCE4"/>
            </a:solidFill>
            <a:prstDash val="solid"/>
          </a:ln>
          <a:effectLst>
            <a:outerShdw blurRad="76200" dist="25400" dir="5400000" algn="bl" rotWithShape="0">
              <a:srgbClr val="000000">
                <a:alpha val="6000"/>
              </a:srgbClr>
            </a:outerShdw>
          </a:effectLst>
        </p:spPr>
        <p:txBody>
          <a:bodyPr/>
          <a:lstStyle/>
          <a:p>
            <a:endParaRPr lang="en-US"/>
          </a:p>
        </p:txBody>
      </p:sp>
      <p:sp>
        <p:nvSpPr>
          <p:cNvPr id="10" name="Shape 7"/>
          <p:cNvSpPr/>
          <p:nvPr/>
        </p:nvSpPr>
        <p:spPr>
          <a:xfrm>
            <a:off x="4663440" y="1280160"/>
            <a:ext cx="4023360" cy="54864"/>
          </a:xfrm>
          <a:prstGeom prst="rect">
            <a:avLst/>
          </a:prstGeom>
          <a:solidFill>
            <a:srgbClr val="F4A300"/>
          </a:solidFill>
          <a:ln w="12700">
            <a:solidFill>
              <a:srgbClr val="F4A300"/>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4892040" y="1554480"/>
            <a:ext cx="411480" cy="411480"/>
          </a:xfrm>
          <a:prstGeom prst="rect">
            <a:avLst/>
          </a:prstGeom>
        </p:spPr>
      </p:pic>
      <p:sp>
        <p:nvSpPr>
          <p:cNvPr id="12" name="Text 8"/>
          <p:cNvSpPr/>
          <p:nvPr/>
        </p:nvSpPr>
        <p:spPr>
          <a:xfrm>
            <a:off x="5440680" y="1536192"/>
            <a:ext cx="3108960" cy="365760"/>
          </a:xfrm>
          <a:prstGeom prst="rect">
            <a:avLst/>
          </a:prstGeom>
          <a:noFill/>
          <a:ln/>
        </p:spPr>
        <p:txBody>
          <a:bodyPr wrap="square" lIns="0" tIns="0" rIns="0" bIns="0" rtlCol="0" anchor="ctr"/>
          <a:lstStyle/>
          <a:p>
            <a:pPr marL="0" indent="0">
              <a:buNone/>
            </a:pPr>
            <a:r>
              <a:rPr lang="en-US" sz="1500" b="1" dirty="0">
                <a:solidFill>
                  <a:srgbClr val="0B2545"/>
                </a:solidFill>
                <a:latin typeface="Georgia" pitchFamily="34" charset="0"/>
                <a:ea typeface="Georgia" pitchFamily="34" charset="-122"/>
                <a:cs typeface="Georgia" pitchFamily="34" charset="-120"/>
              </a:rPr>
              <a:t>Compromised Certification</a:t>
            </a:r>
            <a:endParaRPr lang="en-US" sz="1500" dirty="0"/>
          </a:p>
        </p:txBody>
      </p:sp>
      <p:sp>
        <p:nvSpPr>
          <p:cNvPr id="13" name="Text 9"/>
          <p:cNvSpPr/>
          <p:nvPr/>
        </p:nvSpPr>
        <p:spPr>
          <a:xfrm>
            <a:off x="4937760" y="2057400"/>
            <a:ext cx="3520440" cy="777240"/>
          </a:xfrm>
          <a:prstGeom prst="rect">
            <a:avLst/>
          </a:prstGeom>
          <a:noFill/>
          <a:ln/>
        </p:spPr>
        <p:txBody>
          <a:bodyPr wrap="square" lIns="0" tIns="0" rIns="0" bIns="0" rtlCol="0" anchor="ctr"/>
          <a:lstStyle/>
          <a:p>
            <a:pPr marL="0" indent="0">
              <a:buNone/>
            </a:pPr>
            <a:r>
              <a:rPr lang="en-US" sz="1200" dirty="0">
                <a:solidFill>
                  <a:srgbClr val="1B1B1E"/>
                </a:solidFill>
                <a:latin typeface="Calibri" pitchFamily="34" charset="0"/>
                <a:ea typeface="Calibri" pitchFamily="34" charset="-122"/>
                <a:cs typeface="Calibri" pitchFamily="34" charset="-120"/>
              </a:rPr>
              <a:t>Boeing employees acted as FAA-designated reviewers. The 'delegation of delegation' meant Boeing helped decide what the FAA would scrutinize.</a:t>
            </a:r>
            <a:endParaRPr lang="en-US" sz="1200" dirty="0"/>
          </a:p>
        </p:txBody>
      </p:sp>
      <p:sp>
        <p:nvSpPr>
          <p:cNvPr id="14" name="Shape 10"/>
          <p:cNvSpPr/>
          <p:nvPr/>
        </p:nvSpPr>
        <p:spPr>
          <a:xfrm>
            <a:off x="457200" y="3017520"/>
            <a:ext cx="4023360" cy="1600200"/>
          </a:xfrm>
          <a:prstGeom prst="rect">
            <a:avLst/>
          </a:prstGeom>
          <a:solidFill>
            <a:srgbClr val="FFFFFF"/>
          </a:solidFill>
          <a:ln w="9525">
            <a:solidFill>
              <a:srgbClr val="D6DCE4"/>
            </a:solidFill>
            <a:prstDash val="solid"/>
          </a:ln>
          <a:effectLst>
            <a:outerShdw blurRad="76200" dist="25400" dir="5400000" algn="bl" rotWithShape="0">
              <a:srgbClr val="000000">
                <a:alpha val="6000"/>
              </a:srgbClr>
            </a:outerShdw>
          </a:effectLst>
        </p:spPr>
        <p:txBody>
          <a:bodyPr/>
          <a:lstStyle/>
          <a:p>
            <a:endParaRPr lang="en-US"/>
          </a:p>
        </p:txBody>
      </p:sp>
      <p:sp>
        <p:nvSpPr>
          <p:cNvPr id="15" name="Shape 11"/>
          <p:cNvSpPr/>
          <p:nvPr/>
        </p:nvSpPr>
        <p:spPr>
          <a:xfrm>
            <a:off x="457200" y="3017520"/>
            <a:ext cx="4023360" cy="54864"/>
          </a:xfrm>
          <a:prstGeom prst="rect">
            <a:avLst/>
          </a:prstGeom>
          <a:solidFill>
            <a:srgbClr val="F4A300"/>
          </a:solidFill>
          <a:ln w="12700">
            <a:solidFill>
              <a:srgbClr val="F4A300"/>
            </a:solidFill>
            <a:prstDash val="solid"/>
          </a:ln>
        </p:spPr>
        <p:txBody>
          <a:bodyPr/>
          <a:lstStyle/>
          <a:p>
            <a:endParaRPr lang="en-US"/>
          </a:p>
        </p:txBody>
      </p:sp>
      <p:pic>
        <p:nvPicPr>
          <p:cNvPr id="16" name="Image 2" descr="preencoded.png"/>
          <p:cNvPicPr>
            <a:picLocks noChangeAspect="1"/>
          </p:cNvPicPr>
          <p:nvPr/>
        </p:nvPicPr>
        <p:blipFill>
          <a:blip r:embed="rId5"/>
          <a:stretch>
            <a:fillRect/>
          </a:stretch>
        </p:blipFill>
        <p:spPr>
          <a:xfrm>
            <a:off x="685800" y="3291840"/>
            <a:ext cx="411480" cy="411480"/>
          </a:xfrm>
          <a:prstGeom prst="rect">
            <a:avLst/>
          </a:prstGeom>
        </p:spPr>
      </p:pic>
      <p:sp>
        <p:nvSpPr>
          <p:cNvPr id="17" name="Text 12"/>
          <p:cNvSpPr/>
          <p:nvPr/>
        </p:nvSpPr>
        <p:spPr>
          <a:xfrm>
            <a:off x="1234440" y="3273552"/>
            <a:ext cx="3108960" cy="365760"/>
          </a:xfrm>
          <a:prstGeom prst="rect">
            <a:avLst/>
          </a:prstGeom>
          <a:noFill/>
          <a:ln/>
        </p:spPr>
        <p:txBody>
          <a:bodyPr wrap="square" lIns="0" tIns="0" rIns="0" bIns="0" rtlCol="0" anchor="ctr"/>
          <a:lstStyle/>
          <a:p>
            <a:pPr marL="0" indent="0">
              <a:buNone/>
            </a:pPr>
            <a:r>
              <a:rPr lang="en-US" sz="1500" b="1" dirty="0">
                <a:solidFill>
                  <a:srgbClr val="0B2545"/>
                </a:solidFill>
                <a:latin typeface="Georgia" pitchFamily="34" charset="0"/>
                <a:ea typeface="Georgia" pitchFamily="34" charset="-122"/>
                <a:cs typeface="Georgia" pitchFamily="34" charset="-120"/>
              </a:rPr>
              <a:t>Hidden from Pilots</a:t>
            </a:r>
            <a:endParaRPr lang="en-US" sz="1500" dirty="0"/>
          </a:p>
        </p:txBody>
      </p:sp>
      <p:sp>
        <p:nvSpPr>
          <p:cNvPr id="18" name="Text 13"/>
          <p:cNvSpPr/>
          <p:nvPr/>
        </p:nvSpPr>
        <p:spPr>
          <a:xfrm>
            <a:off x="731520" y="3794760"/>
            <a:ext cx="3520440" cy="777240"/>
          </a:xfrm>
          <a:prstGeom prst="rect">
            <a:avLst/>
          </a:prstGeom>
          <a:noFill/>
          <a:ln/>
        </p:spPr>
        <p:txBody>
          <a:bodyPr wrap="square" lIns="0" tIns="0" rIns="0" bIns="0" rtlCol="0" anchor="ctr"/>
          <a:lstStyle/>
          <a:p>
            <a:pPr marL="0" indent="0">
              <a:buNone/>
            </a:pPr>
            <a:r>
              <a:rPr lang="en-US" sz="1200" dirty="0">
                <a:solidFill>
                  <a:srgbClr val="1B1B1E"/>
                </a:solidFill>
                <a:latin typeface="Calibri" pitchFamily="34" charset="0"/>
                <a:ea typeface="Calibri" pitchFamily="34" charset="-122"/>
                <a:cs typeface="Calibri" pitchFamily="34" charset="-120"/>
              </a:rPr>
              <a:t>MCAS was deliberately omitted from training manuals to avoid triggering simulator-training requirements that would have cost airlines money.</a:t>
            </a:r>
            <a:endParaRPr lang="en-US" sz="1200" dirty="0"/>
          </a:p>
        </p:txBody>
      </p:sp>
      <p:sp>
        <p:nvSpPr>
          <p:cNvPr id="19" name="Shape 14"/>
          <p:cNvSpPr/>
          <p:nvPr/>
        </p:nvSpPr>
        <p:spPr>
          <a:xfrm>
            <a:off x="4663440" y="3017520"/>
            <a:ext cx="4023360" cy="1600200"/>
          </a:xfrm>
          <a:prstGeom prst="rect">
            <a:avLst/>
          </a:prstGeom>
          <a:solidFill>
            <a:srgbClr val="FFFFFF"/>
          </a:solidFill>
          <a:ln w="9525">
            <a:solidFill>
              <a:srgbClr val="D6DCE4"/>
            </a:solidFill>
            <a:prstDash val="solid"/>
          </a:ln>
          <a:effectLst>
            <a:outerShdw blurRad="76200" dist="25400" dir="5400000" algn="bl" rotWithShape="0">
              <a:srgbClr val="000000">
                <a:alpha val="6000"/>
              </a:srgbClr>
            </a:outerShdw>
          </a:effectLst>
        </p:spPr>
        <p:txBody>
          <a:bodyPr/>
          <a:lstStyle/>
          <a:p>
            <a:endParaRPr lang="en-US"/>
          </a:p>
        </p:txBody>
      </p:sp>
      <p:sp>
        <p:nvSpPr>
          <p:cNvPr id="20" name="Shape 15"/>
          <p:cNvSpPr/>
          <p:nvPr/>
        </p:nvSpPr>
        <p:spPr>
          <a:xfrm>
            <a:off x="4663440" y="3017520"/>
            <a:ext cx="4023360" cy="54864"/>
          </a:xfrm>
          <a:prstGeom prst="rect">
            <a:avLst/>
          </a:prstGeom>
          <a:solidFill>
            <a:srgbClr val="F4A300"/>
          </a:solidFill>
          <a:ln w="12700">
            <a:solidFill>
              <a:srgbClr val="F4A300"/>
            </a:solidFill>
            <a:prstDash val="solid"/>
          </a:ln>
        </p:spPr>
        <p:txBody>
          <a:bodyPr/>
          <a:lstStyle/>
          <a:p>
            <a:endParaRPr lang="en-US"/>
          </a:p>
        </p:txBody>
      </p:sp>
      <p:pic>
        <p:nvPicPr>
          <p:cNvPr id="21" name="Image 3" descr="preencoded.png"/>
          <p:cNvPicPr>
            <a:picLocks noChangeAspect="1"/>
          </p:cNvPicPr>
          <p:nvPr/>
        </p:nvPicPr>
        <p:blipFill>
          <a:blip r:embed="rId6"/>
          <a:stretch>
            <a:fillRect/>
          </a:stretch>
        </p:blipFill>
        <p:spPr>
          <a:xfrm>
            <a:off x="4892040" y="3291840"/>
            <a:ext cx="411480" cy="411480"/>
          </a:xfrm>
          <a:prstGeom prst="rect">
            <a:avLst/>
          </a:prstGeom>
        </p:spPr>
      </p:pic>
      <p:sp>
        <p:nvSpPr>
          <p:cNvPr id="22" name="Text 16"/>
          <p:cNvSpPr/>
          <p:nvPr/>
        </p:nvSpPr>
        <p:spPr>
          <a:xfrm>
            <a:off x="5440680" y="3273552"/>
            <a:ext cx="3108960" cy="365760"/>
          </a:xfrm>
          <a:prstGeom prst="rect">
            <a:avLst/>
          </a:prstGeom>
          <a:noFill/>
          <a:ln/>
        </p:spPr>
        <p:txBody>
          <a:bodyPr wrap="square" lIns="0" tIns="0" rIns="0" bIns="0" rtlCol="0" anchor="ctr"/>
          <a:lstStyle/>
          <a:p>
            <a:pPr marL="0" indent="0">
              <a:buNone/>
            </a:pPr>
            <a:r>
              <a:rPr lang="en-US" sz="1500" b="1" dirty="0">
                <a:solidFill>
                  <a:srgbClr val="0B2545"/>
                </a:solidFill>
                <a:latin typeface="Georgia" pitchFamily="34" charset="0"/>
                <a:ea typeface="Georgia" pitchFamily="34" charset="-122"/>
                <a:cs typeface="Georgia" pitchFamily="34" charset="-120"/>
              </a:rPr>
              <a:t>Cost &amp; Schedule Pressure</a:t>
            </a:r>
            <a:endParaRPr lang="en-US" sz="1500" dirty="0"/>
          </a:p>
        </p:txBody>
      </p:sp>
      <p:sp>
        <p:nvSpPr>
          <p:cNvPr id="23" name="Text 17"/>
          <p:cNvSpPr/>
          <p:nvPr/>
        </p:nvSpPr>
        <p:spPr>
          <a:xfrm>
            <a:off x="4937760" y="3794760"/>
            <a:ext cx="3520440" cy="777240"/>
          </a:xfrm>
          <a:prstGeom prst="rect">
            <a:avLst/>
          </a:prstGeom>
          <a:noFill/>
          <a:ln/>
        </p:spPr>
        <p:txBody>
          <a:bodyPr wrap="square" lIns="0" tIns="0" rIns="0" bIns="0" rtlCol="0" anchor="ctr"/>
          <a:lstStyle/>
          <a:p>
            <a:pPr marL="0" indent="0">
              <a:buNone/>
            </a:pPr>
            <a:r>
              <a:rPr lang="en-US" sz="1200" dirty="0">
                <a:solidFill>
                  <a:srgbClr val="1B1B1E"/>
                </a:solidFill>
                <a:latin typeface="Calibri" pitchFamily="34" charset="0"/>
                <a:ea typeface="Calibri" pitchFamily="34" charset="-122"/>
                <a:cs typeface="Calibri" pitchFamily="34" charset="-120"/>
              </a:rPr>
              <a:t>Internal communications showed engineers were pushed to keep changes minimal — even when test data flagged MCAS as potentially catastrophic.</a:t>
            </a:r>
            <a:endParaRPr lang="en-US" sz="1200" dirty="0"/>
          </a:p>
        </p:txBody>
      </p:sp>
      <p:sp>
        <p:nvSpPr>
          <p:cNvPr id="24" name="Text 18"/>
          <p:cNvSpPr/>
          <p:nvPr/>
        </p:nvSpPr>
        <p:spPr>
          <a:xfrm>
            <a:off x="457200" y="4846320"/>
            <a:ext cx="5486400" cy="228600"/>
          </a:xfrm>
          <a:prstGeom prst="rect">
            <a:avLst/>
          </a:prstGeom>
          <a:noFill/>
          <a:ln/>
        </p:spPr>
        <p:txBody>
          <a:bodyPr wrap="square" lIns="0" tIns="0" rIns="0" bIns="0" rtlCol="0" anchor="ctr"/>
          <a:lstStyle/>
          <a:p>
            <a:pPr marL="0" indent="0">
              <a:buNone/>
            </a:pPr>
            <a:r>
              <a:rPr lang="en-US" sz="900" dirty="0">
                <a:solidFill>
                  <a:srgbClr val="5C6B7A"/>
                </a:solidFill>
                <a:latin typeface="Calibri" pitchFamily="34" charset="0"/>
                <a:ea typeface="Calibri" pitchFamily="34" charset="-122"/>
                <a:cs typeface="Calibri" pitchFamily="34" charset="-120"/>
              </a:rPr>
              <a:t>Boeing 737 MAX  |  Engineering Ethics Case Study</a:t>
            </a:r>
            <a:endParaRPr lang="en-US" sz="900" dirty="0"/>
          </a:p>
        </p:txBody>
      </p:sp>
      <p:sp>
        <p:nvSpPr>
          <p:cNvPr id="25" name="Text 19"/>
          <p:cNvSpPr/>
          <p:nvPr/>
        </p:nvSpPr>
        <p:spPr>
          <a:xfrm>
            <a:off x="8229600" y="4846320"/>
            <a:ext cx="457200" cy="228600"/>
          </a:xfrm>
          <a:prstGeom prst="rect">
            <a:avLst/>
          </a:prstGeom>
          <a:noFill/>
          <a:ln/>
        </p:spPr>
        <p:txBody>
          <a:bodyPr wrap="square" lIns="0" tIns="0" rIns="0" bIns="0" rtlCol="0" anchor="ctr"/>
          <a:lstStyle/>
          <a:p>
            <a:pPr marL="0" indent="0" algn="r">
              <a:buNone/>
            </a:pPr>
            <a:r>
              <a:rPr lang="en-US" sz="900" dirty="0">
                <a:solidFill>
                  <a:srgbClr val="5C6B7A"/>
                </a:solidFill>
                <a:latin typeface="Calibri" pitchFamily="34" charset="0"/>
                <a:ea typeface="Calibri" pitchFamily="34" charset="-122"/>
                <a:cs typeface="Calibri" pitchFamily="34" charset="-120"/>
              </a:rPr>
              <a:t>6</a:t>
            </a:r>
            <a:endParaRPr lang="en-US" sz="900" dirty="0"/>
          </a:p>
        </p:txBody>
      </p:sp>
    </p:spTree>
    <p:extLst>
      <p:ext uri="{BB962C8B-B14F-4D97-AF65-F5344CB8AC3E}">
        <p14:creationId xmlns:p14="http://schemas.microsoft.com/office/powerpoint/2010/main" val="8519496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EF4ED"/>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228600"/>
          </a:xfrm>
          <a:prstGeom prst="rect">
            <a:avLst/>
          </a:prstGeom>
          <a:noFill/>
          <a:ln/>
        </p:spPr>
        <p:txBody>
          <a:bodyPr wrap="square" lIns="0" tIns="0" rIns="0" bIns="0" rtlCol="0" anchor="ctr"/>
          <a:lstStyle/>
          <a:p>
            <a:pPr marL="0" indent="0">
              <a:buNone/>
            </a:pPr>
            <a:r>
              <a:rPr lang="en-US" sz="1100" b="1" kern="0" spc="400" dirty="0">
                <a:solidFill>
                  <a:srgbClr val="F4A300"/>
                </a:solidFill>
                <a:latin typeface="Calibri" pitchFamily="34" charset="0"/>
                <a:ea typeface="Calibri" pitchFamily="34" charset="-122"/>
                <a:cs typeface="Calibri" pitchFamily="34" charset="-120"/>
              </a:rPr>
              <a:t>ETHICAL ANALYSIS</a:t>
            </a:r>
            <a:endParaRPr lang="en-US" sz="1100" dirty="0"/>
          </a:p>
        </p:txBody>
      </p:sp>
      <p:sp>
        <p:nvSpPr>
          <p:cNvPr id="3" name="Text 1"/>
          <p:cNvSpPr/>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0B2545"/>
                </a:solidFill>
                <a:latin typeface="Georgia" pitchFamily="34" charset="0"/>
                <a:ea typeface="Georgia" pitchFamily="34" charset="-122"/>
                <a:cs typeface="Georgia" pitchFamily="34" charset="-120"/>
              </a:rPr>
              <a:t>Where ethics broke down</a:t>
            </a:r>
            <a:endParaRPr lang="en-US" sz="2800" dirty="0"/>
          </a:p>
        </p:txBody>
      </p:sp>
      <p:sp>
        <p:nvSpPr>
          <p:cNvPr id="4" name="Text 2"/>
          <p:cNvSpPr/>
          <p:nvPr/>
        </p:nvSpPr>
        <p:spPr>
          <a:xfrm>
            <a:off x="457200" y="1188720"/>
            <a:ext cx="8229600" cy="502920"/>
          </a:xfrm>
          <a:prstGeom prst="rect">
            <a:avLst/>
          </a:prstGeom>
          <a:noFill/>
          <a:ln/>
        </p:spPr>
        <p:txBody>
          <a:bodyPr wrap="square" lIns="0" tIns="0" rIns="0" bIns="0" rtlCol="0" anchor="ctr"/>
          <a:lstStyle/>
          <a:p>
            <a:pPr marL="0" indent="0">
              <a:buNone/>
            </a:pPr>
            <a:r>
              <a:rPr lang="en-US" sz="1300" i="1" dirty="0">
                <a:solidFill>
                  <a:srgbClr val="1B1B1E"/>
                </a:solidFill>
                <a:latin typeface="Calibri" pitchFamily="34" charset="0"/>
                <a:ea typeface="Calibri" pitchFamily="34" charset="-122"/>
                <a:cs typeface="Calibri" pitchFamily="34" charset="-120"/>
              </a:rPr>
              <a:t>Engineering codes of ethics (NSPE, IEEE, ASME) share a clear hierarchy: public safety comes first, ahead of employer interests or competitive position.</a:t>
            </a:r>
            <a:endParaRPr lang="en-US" sz="1300" dirty="0"/>
          </a:p>
        </p:txBody>
      </p:sp>
      <p:sp>
        <p:nvSpPr>
          <p:cNvPr id="5" name="Shape 3"/>
          <p:cNvSpPr/>
          <p:nvPr/>
        </p:nvSpPr>
        <p:spPr>
          <a:xfrm>
            <a:off x="457200" y="1828800"/>
            <a:ext cx="4114800" cy="2788920"/>
          </a:xfrm>
          <a:prstGeom prst="rect">
            <a:avLst/>
          </a:prstGeom>
          <a:solidFill>
            <a:srgbClr val="FFFFFF"/>
          </a:solidFill>
          <a:ln w="9525">
            <a:solidFill>
              <a:srgbClr val="D6DCE4"/>
            </a:solidFill>
            <a:prstDash val="solid"/>
          </a:ln>
        </p:spPr>
        <p:txBody>
          <a:bodyPr/>
          <a:lstStyle/>
          <a:p>
            <a:endParaRPr lang="en-US"/>
          </a:p>
        </p:txBody>
      </p:sp>
      <p:sp>
        <p:nvSpPr>
          <p:cNvPr id="6" name="Shape 4"/>
          <p:cNvSpPr/>
          <p:nvPr/>
        </p:nvSpPr>
        <p:spPr>
          <a:xfrm>
            <a:off x="457200" y="1828800"/>
            <a:ext cx="4114800" cy="411480"/>
          </a:xfrm>
          <a:prstGeom prst="rect">
            <a:avLst/>
          </a:prstGeom>
          <a:solidFill>
            <a:srgbClr val="C1272D"/>
          </a:solidFill>
          <a:ln w="12700">
            <a:solidFill>
              <a:srgbClr val="C1272D"/>
            </a:solidFill>
            <a:prstDash val="solid"/>
          </a:ln>
        </p:spPr>
        <p:txBody>
          <a:bodyPr/>
          <a:lstStyle/>
          <a:p>
            <a:endParaRPr lang="en-US"/>
          </a:p>
        </p:txBody>
      </p:sp>
      <p:sp>
        <p:nvSpPr>
          <p:cNvPr id="7" name="Text 5"/>
          <p:cNvSpPr/>
          <p:nvPr/>
        </p:nvSpPr>
        <p:spPr>
          <a:xfrm>
            <a:off x="640080" y="1874520"/>
            <a:ext cx="3840480" cy="320040"/>
          </a:xfrm>
          <a:prstGeom prst="rect">
            <a:avLst/>
          </a:prstGeom>
          <a:noFill/>
          <a:ln/>
        </p:spPr>
        <p:txBody>
          <a:bodyPr wrap="square" lIns="0" tIns="0" rIns="0" bIns="0" rtlCol="0" anchor="ctr"/>
          <a:lstStyle/>
          <a:p>
            <a:pPr marL="0" indent="0">
              <a:buNone/>
            </a:pPr>
            <a:r>
              <a:rPr lang="en-US" sz="1200" b="1" kern="0" spc="400" dirty="0">
                <a:solidFill>
                  <a:srgbClr val="FFFFFF"/>
                </a:solidFill>
                <a:latin typeface="Calibri" pitchFamily="34" charset="0"/>
                <a:ea typeface="Calibri" pitchFamily="34" charset="-122"/>
                <a:cs typeface="Calibri" pitchFamily="34" charset="-120"/>
              </a:rPr>
              <a:t>PRINCIPLES VIOLATED</a:t>
            </a:r>
            <a:endParaRPr lang="en-US" sz="1200" dirty="0"/>
          </a:p>
        </p:txBody>
      </p:sp>
      <p:pic>
        <p:nvPicPr>
          <p:cNvPr id="8" name="Image 0" descr="preencoded.png"/>
          <p:cNvPicPr>
            <a:picLocks noChangeAspect="1"/>
          </p:cNvPicPr>
          <p:nvPr/>
        </p:nvPicPr>
        <p:blipFill>
          <a:blip r:embed="rId3"/>
          <a:stretch>
            <a:fillRect/>
          </a:stretch>
        </p:blipFill>
        <p:spPr>
          <a:xfrm>
            <a:off x="640080" y="2423160"/>
            <a:ext cx="292608" cy="292608"/>
          </a:xfrm>
          <a:prstGeom prst="rect">
            <a:avLst/>
          </a:prstGeom>
        </p:spPr>
      </p:pic>
      <p:sp>
        <p:nvSpPr>
          <p:cNvPr id="9" name="Text 6"/>
          <p:cNvSpPr/>
          <p:nvPr/>
        </p:nvSpPr>
        <p:spPr>
          <a:xfrm>
            <a:off x="1005840" y="2377440"/>
            <a:ext cx="3383280" cy="274320"/>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Public safety first</a:t>
            </a:r>
            <a:endParaRPr lang="en-US" sz="1300" dirty="0"/>
          </a:p>
        </p:txBody>
      </p:sp>
      <p:sp>
        <p:nvSpPr>
          <p:cNvPr id="10" name="Text 7"/>
          <p:cNvSpPr/>
          <p:nvPr/>
        </p:nvSpPr>
        <p:spPr>
          <a:xfrm>
            <a:off x="1005840" y="2651760"/>
            <a:ext cx="3383280" cy="41148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Cost and schedule were prioritized over disclosure of a flight-critical system.</a:t>
            </a:r>
            <a:endParaRPr lang="en-US" sz="1100" dirty="0"/>
          </a:p>
        </p:txBody>
      </p:sp>
      <p:pic>
        <p:nvPicPr>
          <p:cNvPr id="11" name="Image 1" descr="preencoded.png"/>
          <p:cNvPicPr>
            <a:picLocks noChangeAspect="1"/>
          </p:cNvPicPr>
          <p:nvPr/>
        </p:nvPicPr>
        <p:blipFill>
          <a:blip r:embed="rId3"/>
          <a:stretch>
            <a:fillRect/>
          </a:stretch>
        </p:blipFill>
        <p:spPr>
          <a:xfrm>
            <a:off x="640080" y="3136392"/>
            <a:ext cx="292608" cy="292608"/>
          </a:xfrm>
          <a:prstGeom prst="rect">
            <a:avLst/>
          </a:prstGeom>
        </p:spPr>
      </p:pic>
      <p:sp>
        <p:nvSpPr>
          <p:cNvPr id="12" name="Text 8"/>
          <p:cNvSpPr/>
          <p:nvPr/>
        </p:nvSpPr>
        <p:spPr>
          <a:xfrm>
            <a:off x="1005840" y="3090672"/>
            <a:ext cx="3383280" cy="274320"/>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Honesty &amp; transparency</a:t>
            </a:r>
            <a:endParaRPr lang="en-US" sz="1300" dirty="0"/>
          </a:p>
        </p:txBody>
      </p:sp>
      <p:sp>
        <p:nvSpPr>
          <p:cNvPr id="13" name="Text 9"/>
          <p:cNvSpPr/>
          <p:nvPr/>
        </p:nvSpPr>
        <p:spPr>
          <a:xfrm>
            <a:off x="1005840" y="3364992"/>
            <a:ext cx="3383280" cy="41148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MCAS was hidden from pilots; the FAA was not informed of a late-stage authority increase.</a:t>
            </a:r>
            <a:endParaRPr lang="en-US" sz="1100" dirty="0"/>
          </a:p>
        </p:txBody>
      </p:sp>
      <p:pic>
        <p:nvPicPr>
          <p:cNvPr id="14" name="Image 2" descr="preencoded.png"/>
          <p:cNvPicPr>
            <a:picLocks noChangeAspect="1"/>
          </p:cNvPicPr>
          <p:nvPr/>
        </p:nvPicPr>
        <p:blipFill>
          <a:blip r:embed="rId3"/>
          <a:stretch>
            <a:fillRect/>
          </a:stretch>
        </p:blipFill>
        <p:spPr>
          <a:xfrm>
            <a:off x="640080" y="3849624"/>
            <a:ext cx="292608" cy="292608"/>
          </a:xfrm>
          <a:prstGeom prst="rect">
            <a:avLst/>
          </a:prstGeom>
        </p:spPr>
      </p:pic>
      <p:sp>
        <p:nvSpPr>
          <p:cNvPr id="15" name="Text 10"/>
          <p:cNvSpPr/>
          <p:nvPr/>
        </p:nvSpPr>
        <p:spPr>
          <a:xfrm>
            <a:off x="1005840" y="3803904"/>
            <a:ext cx="3383280" cy="274320"/>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Whistleblower duty</a:t>
            </a:r>
            <a:endParaRPr lang="en-US" sz="1300" dirty="0"/>
          </a:p>
        </p:txBody>
      </p:sp>
      <p:sp>
        <p:nvSpPr>
          <p:cNvPr id="16" name="Text 11"/>
          <p:cNvSpPr/>
          <p:nvPr/>
        </p:nvSpPr>
        <p:spPr>
          <a:xfrm>
            <a:off x="1005840" y="4078224"/>
            <a:ext cx="3383280" cy="41148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Internal concerns from engineers and test pilots reportedly did not flow up the chain.</a:t>
            </a:r>
            <a:endParaRPr lang="en-US" sz="1100" dirty="0"/>
          </a:p>
        </p:txBody>
      </p:sp>
      <p:sp>
        <p:nvSpPr>
          <p:cNvPr id="17" name="Shape 12"/>
          <p:cNvSpPr/>
          <p:nvPr/>
        </p:nvSpPr>
        <p:spPr>
          <a:xfrm>
            <a:off x="4754880" y="1828800"/>
            <a:ext cx="3931920" cy="2788920"/>
          </a:xfrm>
          <a:prstGeom prst="rect">
            <a:avLst/>
          </a:prstGeom>
          <a:solidFill>
            <a:srgbClr val="FFFFFF"/>
          </a:solidFill>
          <a:ln w="9525">
            <a:solidFill>
              <a:srgbClr val="D6DCE4"/>
            </a:solidFill>
            <a:prstDash val="solid"/>
          </a:ln>
        </p:spPr>
        <p:txBody>
          <a:bodyPr/>
          <a:lstStyle/>
          <a:p>
            <a:endParaRPr lang="en-US"/>
          </a:p>
        </p:txBody>
      </p:sp>
      <p:sp>
        <p:nvSpPr>
          <p:cNvPr id="18" name="Shape 13"/>
          <p:cNvSpPr/>
          <p:nvPr/>
        </p:nvSpPr>
        <p:spPr>
          <a:xfrm>
            <a:off x="4754880" y="1828800"/>
            <a:ext cx="3931920" cy="411480"/>
          </a:xfrm>
          <a:prstGeom prst="rect">
            <a:avLst/>
          </a:prstGeom>
          <a:solidFill>
            <a:srgbClr val="1F7A3A"/>
          </a:solidFill>
          <a:ln w="12700">
            <a:solidFill>
              <a:srgbClr val="1F7A3A"/>
            </a:solidFill>
            <a:prstDash val="solid"/>
          </a:ln>
        </p:spPr>
        <p:txBody>
          <a:bodyPr/>
          <a:lstStyle/>
          <a:p>
            <a:endParaRPr lang="en-US"/>
          </a:p>
        </p:txBody>
      </p:sp>
      <p:sp>
        <p:nvSpPr>
          <p:cNvPr id="19" name="Text 14"/>
          <p:cNvSpPr/>
          <p:nvPr/>
        </p:nvSpPr>
        <p:spPr>
          <a:xfrm>
            <a:off x="4937760" y="1874520"/>
            <a:ext cx="3657600" cy="320040"/>
          </a:xfrm>
          <a:prstGeom prst="rect">
            <a:avLst/>
          </a:prstGeom>
          <a:noFill/>
          <a:ln/>
        </p:spPr>
        <p:txBody>
          <a:bodyPr wrap="square" lIns="0" tIns="0" rIns="0" bIns="0" rtlCol="0" anchor="ctr"/>
          <a:lstStyle/>
          <a:p>
            <a:pPr marL="0" indent="0">
              <a:buNone/>
            </a:pPr>
            <a:r>
              <a:rPr lang="en-US" sz="1200" b="1" kern="0" spc="400" dirty="0">
                <a:solidFill>
                  <a:srgbClr val="FFFFFF"/>
                </a:solidFill>
                <a:latin typeface="Calibri" pitchFamily="34" charset="0"/>
                <a:ea typeface="Calibri" pitchFamily="34" charset="-122"/>
                <a:cs typeface="Calibri" pitchFamily="34" charset="-120"/>
              </a:rPr>
              <a:t>WHAT THE CODE DEMANDS</a:t>
            </a:r>
            <a:endParaRPr lang="en-US" sz="1200" dirty="0"/>
          </a:p>
        </p:txBody>
      </p:sp>
      <p:pic>
        <p:nvPicPr>
          <p:cNvPr id="20" name="Image 3" descr="preencoded.png"/>
          <p:cNvPicPr>
            <a:picLocks noChangeAspect="1"/>
          </p:cNvPicPr>
          <p:nvPr/>
        </p:nvPicPr>
        <p:blipFill>
          <a:blip r:embed="rId4"/>
          <a:stretch>
            <a:fillRect/>
          </a:stretch>
        </p:blipFill>
        <p:spPr>
          <a:xfrm>
            <a:off x="4937760" y="2423160"/>
            <a:ext cx="292608" cy="292608"/>
          </a:xfrm>
          <a:prstGeom prst="rect">
            <a:avLst/>
          </a:prstGeom>
        </p:spPr>
      </p:pic>
      <p:sp>
        <p:nvSpPr>
          <p:cNvPr id="21" name="Text 15"/>
          <p:cNvSpPr/>
          <p:nvPr/>
        </p:nvSpPr>
        <p:spPr>
          <a:xfrm>
            <a:off x="5303520" y="2377440"/>
            <a:ext cx="3246120" cy="274320"/>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Treat safety-critical software as such</a:t>
            </a:r>
            <a:endParaRPr lang="en-US" sz="1300" dirty="0"/>
          </a:p>
        </p:txBody>
      </p:sp>
      <p:sp>
        <p:nvSpPr>
          <p:cNvPr id="22" name="Text 16"/>
          <p:cNvSpPr/>
          <p:nvPr/>
        </p:nvSpPr>
        <p:spPr>
          <a:xfrm>
            <a:off x="5303520" y="2651760"/>
            <a:ext cx="3246120" cy="41148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Single-sensor inputs and silent authority over flight controls require full safety review.</a:t>
            </a:r>
            <a:endParaRPr lang="en-US" sz="1100" dirty="0"/>
          </a:p>
        </p:txBody>
      </p:sp>
      <p:pic>
        <p:nvPicPr>
          <p:cNvPr id="23" name="Image 4" descr="preencoded.png"/>
          <p:cNvPicPr>
            <a:picLocks noChangeAspect="1"/>
          </p:cNvPicPr>
          <p:nvPr/>
        </p:nvPicPr>
        <p:blipFill>
          <a:blip r:embed="rId4"/>
          <a:stretch>
            <a:fillRect/>
          </a:stretch>
        </p:blipFill>
        <p:spPr>
          <a:xfrm>
            <a:off x="4937760" y="3136392"/>
            <a:ext cx="292608" cy="292608"/>
          </a:xfrm>
          <a:prstGeom prst="rect">
            <a:avLst/>
          </a:prstGeom>
        </p:spPr>
      </p:pic>
      <p:sp>
        <p:nvSpPr>
          <p:cNvPr id="24" name="Text 17"/>
          <p:cNvSpPr/>
          <p:nvPr/>
        </p:nvSpPr>
        <p:spPr>
          <a:xfrm>
            <a:off x="5303520" y="3090672"/>
            <a:ext cx="3246120" cy="274320"/>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Disclose, don't disguise</a:t>
            </a:r>
            <a:endParaRPr lang="en-US" sz="1300" dirty="0"/>
          </a:p>
        </p:txBody>
      </p:sp>
      <p:sp>
        <p:nvSpPr>
          <p:cNvPr id="25" name="Text 18"/>
          <p:cNvSpPr/>
          <p:nvPr/>
        </p:nvSpPr>
        <p:spPr>
          <a:xfrm>
            <a:off x="5303520" y="3364992"/>
            <a:ext cx="3246120" cy="41148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If a system can override pilots, pilots must be trained on it — period.</a:t>
            </a:r>
            <a:endParaRPr lang="en-US" sz="1100" dirty="0"/>
          </a:p>
        </p:txBody>
      </p:sp>
      <p:pic>
        <p:nvPicPr>
          <p:cNvPr id="26" name="Image 5" descr="preencoded.png"/>
          <p:cNvPicPr>
            <a:picLocks noChangeAspect="1"/>
          </p:cNvPicPr>
          <p:nvPr/>
        </p:nvPicPr>
        <p:blipFill>
          <a:blip r:embed="rId4"/>
          <a:stretch>
            <a:fillRect/>
          </a:stretch>
        </p:blipFill>
        <p:spPr>
          <a:xfrm>
            <a:off x="4937760" y="3849624"/>
            <a:ext cx="292608" cy="292608"/>
          </a:xfrm>
          <a:prstGeom prst="rect">
            <a:avLst/>
          </a:prstGeom>
        </p:spPr>
      </p:pic>
      <p:sp>
        <p:nvSpPr>
          <p:cNvPr id="27" name="Text 19"/>
          <p:cNvSpPr/>
          <p:nvPr/>
        </p:nvSpPr>
        <p:spPr>
          <a:xfrm>
            <a:off x="5303520" y="3803904"/>
            <a:ext cx="3246120" cy="274320"/>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Independent oversight</a:t>
            </a:r>
            <a:endParaRPr lang="en-US" sz="1300" dirty="0"/>
          </a:p>
        </p:txBody>
      </p:sp>
      <p:sp>
        <p:nvSpPr>
          <p:cNvPr id="28" name="Text 20"/>
          <p:cNvSpPr/>
          <p:nvPr/>
        </p:nvSpPr>
        <p:spPr>
          <a:xfrm>
            <a:off x="5303520" y="4078224"/>
            <a:ext cx="3246120" cy="41148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Regulators must verify, not delegate, the assessment of catastrophic-class hazards.</a:t>
            </a:r>
            <a:endParaRPr lang="en-US" sz="1100" dirty="0"/>
          </a:p>
        </p:txBody>
      </p:sp>
      <p:sp>
        <p:nvSpPr>
          <p:cNvPr id="29" name="Text 21"/>
          <p:cNvSpPr/>
          <p:nvPr/>
        </p:nvSpPr>
        <p:spPr>
          <a:xfrm>
            <a:off x="457200" y="4846320"/>
            <a:ext cx="5486400" cy="228600"/>
          </a:xfrm>
          <a:prstGeom prst="rect">
            <a:avLst/>
          </a:prstGeom>
          <a:noFill/>
          <a:ln/>
        </p:spPr>
        <p:txBody>
          <a:bodyPr wrap="square" lIns="0" tIns="0" rIns="0" bIns="0" rtlCol="0" anchor="ctr"/>
          <a:lstStyle/>
          <a:p>
            <a:pPr marL="0" indent="0">
              <a:buNone/>
            </a:pPr>
            <a:r>
              <a:rPr lang="en-US" sz="900" dirty="0">
                <a:solidFill>
                  <a:srgbClr val="5C6B7A"/>
                </a:solidFill>
                <a:latin typeface="Calibri" pitchFamily="34" charset="0"/>
                <a:ea typeface="Calibri" pitchFamily="34" charset="-122"/>
                <a:cs typeface="Calibri" pitchFamily="34" charset="-120"/>
              </a:rPr>
              <a:t>Boeing 737 MAX  |  Engineering Ethics Case Study</a:t>
            </a:r>
            <a:endParaRPr lang="en-US" sz="900" dirty="0"/>
          </a:p>
        </p:txBody>
      </p:sp>
      <p:sp>
        <p:nvSpPr>
          <p:cNvPr id="30" name="Text 22"/>
          <p:cNvSpPr/>
          <p:nvPr/>
        </p:nvSpPr>
        <p:spPr>
          <a:xfrm>
            <a:off x="8229600" y="4846320"/>
            <a:ext cx="457200" cy="228600"/>
          </a:xfrm>
          <a:prstGeom prst="rect">
            <a:avLst/>
          </a:prstGeom>
          <a:noFill/>
          <a:ln/>
        </p:spPr>
        <p:txBody>
          <a:bodyPr wrap="square" lIns="0" tIns="0" rIns="0" bIns="0" rtlCol="0" anchor="ctr"/>
          <a:lstStyle/>
          <a:p>
            <a:pPr marL="0" indent="0" algn="r">
              <a:buNone/>
            </a:pPr>
            <a:r>
              <a:rPr lang="en-US" sz="900" dirty="0">
                <a:solidFill>
                  <a:srgbClr val="5C6B7A"/>
                </a:solidFill>
                <a:latin typeface="Calibri" pitchFamily="34" charset="0"/>
                <a:ea typeface="Calibri" pitchFamily="34" charset="-122"/>
                <a:cs typeface="Calibri" pitchFamily="34" charset="-120"/>
              </a:rPr>
              <a:t>7</a:t>
            </a:r>
            <a:endParaRPr lang="en-US" sz="900" dirty="0"/>
          </a:p>
        </p:txBody>
      </p:sp>
    </p:spTree>
    <p:extLst>
      <p:ext uri="{BB962C8B-B14F-4D97-AF65-F5344CB8AC3E}">
        <p14:creationId xmlns:p14="http://schemas.microsoft.com/office/powerpoint/2010/main" val="25587409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F4ED"/>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228600"/>
          </a:xfrm>
          <a:prstGeom prst="rect">
            <a:avLst/>
          </a:prstGeom>
          <a:noFill/>
          <a:ln/>
        </p:spPr>
        <p:txBody>
          <a:bodyPr wrap="square" lIns="0" tIns="0" rIns="0" bIns="0" rtlCol="0" anchor="ctr"/>
          <a:lstStyle/>
          <a:p>
            <a:pPr marL="0" indent="0">
              <a:buNone/>
            </a:pPr>
            <a:r>
              <a:rPr lang="en-US" sz="1100" b="1" kern="0" spc="400" dirty="0">
                <a:solidFill>
                  <a:srgbClr val="F4A300"/>
                </a:solidFill>
                <a:latin typeface="Calibri" pitchFamily="34" charset="0"/>
                <a:ea typeface="Calibri" pitchFamily="34" charset="-122"/>
                <a:cs typeface="Calibri" pitchFamily="34" charset="-120"/>
              </a:rPr>
              <a:t>LAB TIE-IN</a:t>
            </a:r>
            <a:endParaRPr lang="en-US" sz="1100" dirty="0"/>
          </a:p>
        </p:txBody>
      </p:sp>
      <p:sp>
        <p:nvSpPr>
          <p:cNvPr id="3" name="Text 1"/>
          <p:cNvSpPr/>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0B2545"/>
                </a:solidFill>
                <a:latin typeface="Georgia" pitchFamily="34" charset="0"/>
                <a:ea typeface="Georgia" pitchFamily="34" charset="-122"/>
                <a:cs typeface="Georgia" pitchFamily="34" charset="-120"/>
              </a:rPr>
              <a:t>How this connects to our lab work</a:t>
            </a:r>
            <a:endParaRPr lang="en-US" sz="2800" dirty="0"/>
          </a:p>
        </p:txBody>
      </p:sp>
      <p:sp>
        <p:nvSpPr>
          <p:cNvPr id="4" name="Text 2"/>
          <p:cNvSpPr/>
          <p:nvPr/>
        </p:nvSpPr>
        <p:spPr>
          <a:xfrm>
            <a:off x="457200" y="1188720"/>
            <a:ext cx="8229600" cy="411480"/>
          </a:xfrm>
          <a:prstGeom prst="rect">
            <a:avLst/>
          </a:prstGeom>
          <a:noFill/>
          <a:ln/>
        </p:spPr>
        <p:txBody>
          <a:bodyPr wrap="square" lIns="0" tIns="0" rIns="0" bIns="0" rtlCol="0" anchor="ctr"/>
          <a:lstStyle/>
          <a:p>
            <a:pPr marL="0" indent="0">
              <a:buNone/>
            </a:pPr>
            <a:r>
              <a:rPr lang="en-US" sz="1300" i="1" dirty="0">
                <a:solidFill>
                  <a:srgbClr val="1B1B1E"/>
                </a:solidFill>
                <a:latin typeface="Calibri" pitchFamily="34" charset="0"/>
                <a:ea typeface="Calibri" pitchFamily="34" charset="-122"/>
                <a:cs typeface="Calibri" pitchFamily="34" charset="-120"/>
              </a:rPr>
              <a:t>Every failure on this slide is a problem we've practiced solving in lab — but at engineering scale, with lives in the balance.</a:t>
            </a:r>
            <a:endParaRPr lang="en-US" sz="1300" dirty="0"/>
          </a:p>
        </p:txBody>
      </p:sp>
      <p:sp>
        <p:nvSpPr>
          <p:cNvPr id="5" name="Shape 3"/>
          <p:cNvSpPr/>
          <p:nvPr/>
        </p:nvSpPr>
        <p:spPr>
          <a:xfrm>
            <a:off x="457200" y="1691640"/>
            <a:ext cx="3108960" cy="365760"/>
          </a:xfrm>
          <a:prstGeom prst="rect">
            <a:avLst/>
          </a:prstGeom>
          <a:solidFill>
            <a:srgbClr val="0B2545"/>
          </a:solidFill>
          <a:ln w="12700">
            <a:solidFill>
              <a:srgbClr val="0B2545"/>
            </a:solidFill>
            <a:prstDash val="solid"/>
          </a:ln>
        </p:spPr>
        <p:txBody>
          <a:bodyPr/>
          <a:lstStyle/>
          <a:p>
            <a:endParaRPr lang="en-US"/>
          </a:p>
        </p:txBody>
      </p:sp>
      <p:sp>
        <p:nvSpPr>
          <p:cNvPr id="6" name="Shape 4"/>
          <p:cNvSpPr/>
          <p:nvPr/>
        </p:nvSpPr>
        <p:spPr>
          <a:xfrm>
            <a:off x="3657600" y="1691640"/>
            <a:ext cx="5029200" cy="365760"/>
          </a:xfrm>
          <a:prstGeom prst="rect">
            <a:avLst/>
          </a:prstGeom>
          <a:solidFill>
            <a:srgbClr val="0B2545"/>
          </a:solidFill>
          <a:ln w="12700">
            <a:solidFill>
              <a:srgbClr val="0B2545"/>
            </a:solidFill>
            <a:prstDash val="solid"/>
          </a:ln>
        </p:spPr>
        <p:txBody>
          <a:bodyPr/>
          <a:lstStyle/>
          <a:p>
            <a:endParaRPr lang="en-US"/>
          </a:p>
        </p:txBody>
      </p:sp>
      <p:sp>
        <p:nvSpPr>
          <p:cNvPr id="7" name="Text 5"/>
          <p:cNvSpPr/>
          <p:nvPr/>
        </p:nvSpPr>
        <p:spPr>
          <a:xfrm>
            <a:off x="594360" y="1746504"/>
            <a:ext cx="2926080" cy="274320"/>
          </a:xfrm>
          <a:prstGeom prst="rect">
            <a:avLst/>
          </a:prstGeom>
          <a:noFill/>
          <a:ln/>
        </p:spPr>
        <p:txBody>
          <a:bodyPr wrap="square" lIns="0" tIns="0" rIns="0" bIns="0" rtlCol="0" anchor="ctr"/>
          <a:lstStyle/>
          <a:p>
            <a:pPr marL="0" indent="0">
              <a:buNone/>
            </a:pPr>
            <a:r>
              <a:rPr lang="en-US" sz="1100" b="1" kern="0" spc="300" dirty="0">
                <a:solidFill>
                  <a:srgbClr val="F4A300"/>
                </a:solidFill>
                <a:latin typeface="Calibri" pitchFamily="34" charset="0"/>
                <a:ea typeface="Calibri" pitchFamily="34" charset="-122"/>
                <a:cs typeface="Calibri" pitchFamily="34" charset="-120"/>
              </a:rPr>
              <a:t>LAB TOPIC</a:t>
            </a:r>
            <a:endParaRPr lang="en-US" sz="1100" dirty="0"/>
          </a:p>
        </p:txBody>
      </p:sp>
      <p:sp>
        <p:nvSpPr>
          <p:cNvPr id="8" name="Text 6"/>
          <p:cNvSpPr/>
          <p:nvPr/>
        </p:nvSpPr>
        <p:spPr>
          <a:xfrm>
            <a:off x="3794760" y="1746504"/>
            <a:ext cx="4846320" cy="274320"/>
          </a:xfrm>
          <a:prstGeom prst="rect">
            <a:avLst/>
          </a:prstGeom>
          <a:noFill/>
          <a:ln/>
        </p:spPr>
        <p:txBody>
          <a:bodyPr wrap="square" lIns="0" tIns="0" rIns="0" bIns="0" rtlCol="0" anchor="ctr"/>
          <a:lstStyle/>
          <a:p>
            <a:pPr marL="0" indent="0">
              <a:buNone/>
            </a:pPr>
            <a:r>
              <a:rPr lang="en-US" sz="1100" b="1" kern="0" spc="300" dirty="0">
                <a:solidFill>
                  <a:srgbClr val="F4A300"/>
                </a:solidFill>
                <a:latin typeface="Calibri" pitchFamily="34" charset="0"/>
                <a:ea typeface="Calibri" pitchFamily="34" charset="-122"/>
                <a:cs typeface="Calibri" pitchFamily="34" charset="-120"/>
              </a:rPr>
              <a:t>WHAT IT MEANS FOR THE 737 MAX</a:t>
            </a:r>
            <a:endParaRPr lang="en-US" sz="1100" dirty="0"/>
          </a:p>
        </p:txBody>
      </p:sp>
      <p:sp>
        <p:nvSpPr>
          <p:cNvPr id="9" name="Shape 7"/>
          <p:cNvSpPr/>
          <p:nvPr/>
        </p:nvSpPr>
        <p:spPr>
          <a:xfrm>
            <a:off x="457200" y="2057400"/>
            <a:ext cx="3108960" cy="640080"/>
          </a:xfrm>
          <a:prstGeom prst="rect">
            <a:avLst/>
          </a:prstGeom>
          <a:solidFill>
            <a:srgbClr val="FFFFFF"/>
          </a:solidFill>
          <a:ln w="6350">
            <a:solidFill>
              <a:srgbClr val="D6DCE4"/>
            </a:solidFill>
            <a:prstDash val="solid"/>
          </a:ln>
        </p:spPr>
        <p:txBody>
          <a:bodyPr/>
          <a:lstStyle/>
          <a:p>
            <a:endParaRPr lang="en-US"/>
          </a:p>
        </p:txBody>
      </p:sp>
      <p:sp>
        <p:nvSpPr>
          <p:cNvPr id="10" name="Shape 8"/>
          <p:cNvSpPr/>
          <p:nvPr/>
        </p:nvSpPr>
        <p:spPr>
          <a:xfrm>
            <a:off x="3657600" y="2057400"/>
            <a:ext cx="5029200" cy="640080"/>
          </a:xfrm>
          <a:prstGeom prst="rect">
            <a:avLst/>
          </a:prstGeom>
          <a:solidFill>
            <a:srgbClr val="FFFFFF"/>
          </a:solidFill>
          <a:ln w="6350">
            <a:solidFill>
              <a:srgbClr val="D6DCE4"/>
            </a:solidFill>
            <a:prstDash val="solid"/>
          </a:ln>
        </p:spPr>
        <p:txBody>
          <a:bodyPr/>
          <a:lstStyle/>
          <a:p>
            <a:endParaRPr lang="en-US"/>
          </a:p>
        </p:txBody>
      </p:sp>
      <p:sp>
        <p:nvSpPr>
          <p:cNvPr id="11" name="Text 9"/>
          <p:cNvSpPr/>
          <p:nvPr/>
        </p:nvSpPr>
        <p:spPr>
          <a:xfrm>
            <a:off x="594360" y="2148840"/>
            <a:ext cx="2926080" cy="457200"/>
          </a:xfrm>
          <a:prstGeom prst="rect">
            <a:avLst/>
          </a:prstGeom>
          <a:noFill/>
          <a:ln/>
        </p:spPr>
        <p:txBody>
          <a:bodyPr wrap="square" lIns="0" tIns="0" rIns="0" bIns="0" rtlCol="0" anchor="ctr"/>
          <a:lstStyle/>
          <a:p>
            <a:pPr marL="0" indent="0">
              <a:buNone/>
            </a:pPr>
            <a:r>
              <a:rPr lang="en-US" sz="1200" b="1" dirty="0">
                <a:solidFill>
                  <a:srgbClr val="0B2545"/>
                </a:solidFill>
                <a:latin typeface="Calibri" pitchFamily="34" charset="0"/>
                <a:ea typeface="Calibri" pitchFamily="34" charset="-122"/>
                <a:cs typeface="Calibri" pitchFamily="34" charset="-120"/>
              </a:rPr>
              <a:t>Data collection &amp; sensor input</a:t>
            </a:r>
            <a:endParaRPr lang="en-US" sz="1200" dirty="0"/>
          </a:p>
        </p:txBody>
      </p:sp>
      <p:sp>
        <p:nvSpPr>
          <p:cNvPr id="12" name="Text 10"/>
          <p:cNvSpPr/>
          <p:nvPr/>
        </p:nvSpPr>
        <p:spPr>
          <a:xfrm>
            <a:off x="3794760" y="2148840"/>
            <a:ext cx="4846320" cy="457200"/>
          </a:xfrm>
          <a:prstGeom prst="rect">
            <a:avLst/>
          </a:prstGeom>
          <a:noFill/>
          <a:ln/>
        </p:spPr>
        <p:txBody>
          <a:bodyPr wrap="square" lIns="0" tIns="0" rIns="0" bIns="0" rtlCol="0" anchor="ctr"/>
          <a:lstStyle/>
          <a:p>
            <a:pPr marL="0" indent="0">
              <a:buNone/>
            </a:pPr>
            <a:r>
              <a:rPr lang="en-US" sz="1100" dirty="0">
                <a:solidFill>
                  <a:srgbClr val="1B1B1E"/>
                </a:solidFill>
                <a:latin typeface="Calibri" pitchFamily="34" charset="0"/>
                <a:ea typeface="Calibri" pitchFamily="34" charset="-122"/>
                <a:cs typeface="Calibri" pitchFamily="34" charset="-120"/>
              </a:rPr>
              <a:t>MCAS read a single AOA sensor with no cross-check — the engineering equivalent of using one thermocouple and trusting the number.</a:t>
            </a:r>
            <a:endParaRPr lang="en-US" sz="1100" dirty="0"/>
          </a:p>
        </p:txBody>
      </p:sp>
      <p:sp>
        <p:nvSpPr>
          <p:cNvPr id="13" name="Shape 11"/>
          <p:cNvSpPr/>
          <p:nvPr/>
        </p:nvSpPr>
        <p:spPr>
          <a:xfrm>
            <a:off x="457200" y="2697480"/>
            <a:ext cx="3108960" cy="640080"/>
          </a:xfrm>
          <a:prstGeom prst="rect">
            <a:avLst/>
          </a:prstGeom>
          <a:solidFill>
            <a:srgbClr val="F5F8FB"/>
          </a:solidFill>
          <a:ln w="6350">
            <a:solidFill>
              <a:srgbClr val="D6DCE4"/>
            </a:solidFill>
            <a:prstDash val="solid"/>
          </a:ln>
        </p:spPr>
        <p:txBody>
          <a:bodyPr/>
          <a:lstStyle/>
          <a:p>
            <a:endParaRPr lang="en-US"/>
          </a:p>
        </p:txBody>
      </p:sp>
      <p:sp>
        <p:nvSpPr>
          <p:cNvPr id="14" name="Shape 12"/>
          <p:cNvSpPr/>
          <p:nvPr/>
        </p:nvSpPr>
        <p:spPr>
          <a:xfrm>
            <a:off x="3657600" y="2697480"/>
            <a:ext cx="5029200" cy="640080"/>
          </a:xfrm>
          <a:prstGeom prst="rect">
            <a:avLst/>
          </a:prstGeom>
          <a:solidFill>
            <a:srgbClr val="F5F8FB"/>
          </a:solidFill>
          <a:ln w="6350">
            <a:solidFill>
              <a:srgbClr val="D6DCE4"/>
            </a:solidFill>
            <a:prstDash val="solid"/>
          </a:ln>
        </p:spPr>
        <p:txBody>
          <a:bodyPr/>
          <a:lstStyle/>
          <a:p>
            <a:endParaRPr lang="en-US"/>
          </a:p>
        </p:txBody>
      </p:sp>
      <p:sp>
        <p:nvSpPr>
          <p:cNvPr id="15" name="Text 13"/>
          <p:cNvSpPr/>
          <p:nvPr/>
        </p:nvSpPr>
        <p:spPr>
          <a:xfrm>
            <a:off x="594360" y="2788920"/>
            <a:ext cx="2926080" cy="457200"/>
          </a:xfrm>
          <a:prstGeom prst="rect">
            <a:avLst/>
          </a:prstGeom>
          <a:noFill/>
          <a:ln/>
        </p:spPr>
        <p:txBody>
          <a:bodyPr wrap="square" lIns="0" tIns="0" rIns="0" bIns="0" rtlCol="0" anchor="ctr"/>
          <a:lstStyle/>
          <a:p>
            <a:pPr marL="0" indent="0">
              <a:buNone/>
            </a:pPr>
            <a:r>
              <a:rPr lang="en-US" sz="1200" b="1" dirty="0">
                <a:solidFill>
                  <a:srgbClr val="0B2545"/>
                </a:solidFill>
                <a:latin typeface="Calibri" pitchFamily="34" charset="0"/>
                <a:ea typeface="Calibri" pitchFamily="34" charset="-122"/>
                <a:cs typeface="Calibri" pitchFamily="34" charset="-120"/>
              </a:rPr>
              <a:t>Errors &amp; uncertainty in measurement</a:t>
            </a:r>
            <a:endParaRPr lang="en-US" sz="1200" dirty="0"/>
          </a:p>
        </p:txBody>
      </p:sp>
      <p:sp>
        <p:nvSpPr>
          <p:cNvPr id="16" name="Text 14"/>
          <p:cNvSpPr/>
          <p:nvPr/>
        </p:nvSpPr>
        <p:spPr>
          <a:xfrm>
            <a:off x="3794760" y="2788920"/>
            <a:ext cx="4846320" cy="457200"/>
          </a:xfrm>
          <a:prstGeom prst="rect">
            <a:avLst/>
          </a:prstGeom>
          <a:noFill/>
          <a:ln/>
        </p:spPr>
        <p:txBody>
          <a:bodyPr wrap="square" lIns="0" tIns="0" rIns="0" bIns="0" rtlCol="0" anchor="ctr"/>
          <a:lstStyle/>
          <a:p>
            <a:pPr marL="0" indent="0">
              <a:buNone/>
            </a:pPr>
            <a:r>
              <a:rPr lang="en-US" sz="1100" dirty="0">
                <a:solidFill>
                  <a:srgbClr val="1B1B1E"/>
                </a:solidFill>
                <a:latin typeface="Calibri" pitchFamily="34" charset="0"/>
                <a:ea typeface="Calibri" pitchFamily="34" charset="-122"/>
                <a:cs typeface="Calibri" pitchFamily="34" charset="-120"/>
              </a:rPr>
              <a:t>Sensors fail. Our labs propagate uncertainty; safety-critical aerospace systems must do the same and design for sensor disagreement.</a:t>
            </a:r>
            <a:endParaRPr lang="en-US" sz="1100" dirty="0"/>
          </a:p>
        </p:txBody>
      </p:sp>
      <p:sp>
        <p:nvSpPr>
          <p:cNvPr id="17" name="Shape 15"/>
          <p:cNvSpPr/>
          <p:nvPr/>
        </p:nvSpPr>
        <p:spPr>
          <a:xfrm>
            <a:off x="457200" y="3337560"/>
            <a:ext cx="3108960" cy="640080"/>
          </a:xfrm>
          <a:prstGeom prst="rect">
            <a:avLst/>
          </a:prstGeom>
          <a:solidFill>
            <a:srgbClr val="FFFFFF"/>
          </a:solidFill>
          <a:ln w="6350">
            <a:solidFill>
              <a:srgbClr val="D6DCE4"/>
            </a:solidFill>
            <a:prstDash val="solid"/>
          </a:ln>
        </p:spPr>
        <p:txBody>
          <a:bodyPr/>
          <a:lstStyle/>
          <a:p>
            <a:endParaRPr lang="en-US"/>
          </a:p>
        </p:txBody>
      </p:sp>
      <p:sp>
        <p:nvSpPr>
          <p:cNvPr id="18" name="Shape 16"/>
          <p:cNvSpPr/>
          <p:nvPr/>
        </p:nvSpPr>
        <p:spPr>
          <a:xfrm>
            <a:off x="3657600" y="3337560"/>
            <a:ext cx="5029200" cy="640080"/>
          </a:xfrm>
          <a:prstGeom prst="rect">
            <a:avLst/>
          </a:prstGeom>
          <a:solidFill>
            <a:srgbClr val="FFFFFF"/>
          </a:solidFill>
          <a:ln w="6350">
            <a:solidFill>
              <a:srgbClr val="D6DCE4"/>
            </a:solidFill>
            <a:prstDash val="solid"/>
          </a:ln>
        </p:spPr>
        <p:txBody>
          <a:bodyPr/>
          <a:lstStyle/>
          <a:p>
            <a:endParaRPr lang="en-US"/>
          </a:p>
        </p:txBody>
      </p:sp>
      <p:sp>
        <p:nvSpPr>
          <p:cNvPr id="19" name="Text 17"/>
          <p:cNvSpPr/>
          <p:nvPr/>
        </p:nvSpPr>
        <p:spPr>
          <a:xfrm>
            <a:off x="594360" y="3429000"/>
            <a:ext cx="2926080" cy="457200"/>
          </a:xfrm>
          <a:prstGeom prst="rect">
            <a:avLst/>
          </a:prstGeom>
          <a:noFill/>
          <a:ln/>
        </p:spPr>
        <p:txBody>
          <a:bodyPr wrap="square" lIns="0" tIns="0" rIns="0" bIns="0" rtlCol="0" anchor="ctr"/>
          <a:lstStyle/>
          <a:p>
            <a:pPr marL="0" indent="0">
              <a:buNone/>
            </a:pPr>
            <a:r>
              <a:rPr lang="en-US" sz="1200" b="1" dirty="0">
                <a:solidFill>
                  <a:srgbClr val="0B2545"/>
                </a:solidFill>
                <a:latin typeface="Calibri" pitchFamily="34" charset="0"/>
                <a:ea typeface="Calibri" pitchFamily="34" charset="-122"/>
                <a:cs typeface="Calibri" pitchFamily="34" charset="-120"/>
              </a:rPr>
              <a:t>System characterization</a:t>
            </a:r>
            <a:endParaRPr lang="en-US" sz="1200" dirty="0"/>
          </a:p>
        </p:txBody>
      </p:sp>
      <p:sp>
        <p:nvSpPr>
          <p:cNvPr id="20" name="Text 18"/>
          <p:cNvSpPr/>
          <p:nvPr/>
        </p:nvSpPr>
        <p:spPr>
          <a:xfrm>
            <a:off x="3794760" y="3429000"/>
            <a:ext cx="4846320" cy="457200"/>
          </a:xfrm>
          <a:prstGeom prst="rect">
            <a:avLst/>
          </a:prstGeom>
          <a:noFill/>
          <a:ln/>
        </p:spPr>
        <p:txBody>
          <a:bodyPr wrap="square" lIns="0" tIns="0" rIns="0" bIns="0" rtlCol="0" anchor="ctr"/>
          <a:lstStyle/>
          <a:p>
            <a:pPr marL="0" indent="0">
              <a:buNone/>
            </a:pPr>
            <a:r>
              <a:rPr lang="en-US" sz="1100" dirty="0">
                <a:solidFill>
                  <a:srgbClr val="1B1B1E"/>
                </a:solidFill>
                <a:latin typeface="Calibri" pitchFamily="34" charset="0"/>
                <a:ea typeface="Calibri" pitchFamily="34" charset="-122"/>
                <a:cs typeface="Calibri" pitchFamily="34" charset="-120"/>
              </a:rPr>
              <a:t>The MAX's pitch-up tendency was a known characteristic 'fixed' in software. Characterizing the underlying physical behavior is non-negotiable.</a:t>
            </a:r>
            <a:endParaRPr lang="en-US" sz="1100" dirty="0"/>
          </a:p>
        </p:txBody>
      </p:sp>
      <p:sp>
        <p:nvSpPr>
          <p:cNvPr id="21" name="Shape 19"/>
          <p:cNvSpPr/>
          <p:nvPr/>
        </p:nvSpPr>
        <p:spPr>
          <a:xfrm>
            <a:off x="457200" y="3977640"/>
            <a:ext cx="3108960" cy="640080"/>
          </a:xfrm>
          <a:prstGeom prst="rect">
            <a:avLst/>
          </a:prstGeom>
          <a:solidFill>
            <a:srgbClr val="F5F8FB"/>
          </a:solidFill>
          <a:ln w="6350">
            <a:solidFill>
              <a:srgbClr val="D6DCE4"/>
            </a:solidFill>
            <a:prstDash val="solid"/>
          </a:ln>
        </p:spPr>
        <p:txBody>
          <a:bodyPr/>
          <a:lstStyle/>
          <a:p>
            <a:endParaRPr lang="en-US"/>
          </a:p>
        </p:txBody>
      </p:sp>
      <p:sp>
        <p:nvSpPr>
          <p:cNvPr id="22" name="Shape 20"/>
          <p:cNvSpPr/>
          <p:nvPr/>
        </p:nvSpPr>
        <p:spPr>
          <a:xfrm>
            <a:off x="3657600" y="3977640"/>
            <a:ext cx="5029200" cy="640080"/>
          </a:xfrm>
          <a:prstGeom prst="rect">
            <a:avLst/>
          </a:prstGeom>
          <a:solidFill>
            <a:srgbClr val="F5F8FB"/>
          </a:solidFill>
          <a:ln w="6350">
            <a:solidFill>
              <a:srgbClr val="D6DCE4"/>
            </a:solidFill>
            <a:prstDash val="solid"/>
          </a:ln>
        </p:spPr>
        <p:txBody>
          <a:bodyPr/>
          <a:lstStyle/>
          <a:p>
            <a:endParaRPr lang="en-US"/>
          </a:p>
        </p:txBody>
      </p:sp>
      <p:sp>
        <p:nvSpPr>
          <p:cNvPr id="23" name="Text 21"/>
          <p:cNvSpPr/>
          <p:nvPr/>
        </p:nvSpPr>
        <p:spPr>
          <a:xfrm>
            <a:off x="594360" y="4069080"/>
            <a:ext cx="2926080" cy="457200"/>
          </a:xfrm>
          <a:prstGeom prst="rect">
            <a:avLst/>
          </a:prstGeom>
          <a:noFill/>
          <a:ln/>
        </p:spPr>
        <p:txBody>
          <a:bodyPr wrap="square" lIns="0" tIns="0" rIns="0" bIns="0" rtlCol="0" anchor="ctr"/>
          <a:lstStyle/>
          <a:p>
            <a:pPr marL="0" indent="0">
              <a:buNone/>
            </a:pPr>
            <a:r>
              <a:rPr lang="en-US" sz="1200" b="1" dirty="0">
                <a:solidFill>
                  <a:srgbClr val="0B2545"/>
                </a:solidFill>
                <a:latin typeface="Calibri" pitchFamily="34" charset="0"/>
                <a:ea typeface="Calibri" pitchFamily="34" charset="-122"/>
                <a:cs typeface="Calibri" pitchFamily="34" charset="-120"/>
              </a:rPr>
              <a:t>Presenting &amp; communicating data</a:t>
            </a:r>
            <a:endParaRPr lang="en-US" sz="1200" dirty="0"/>
          </a:p>
        </p:txBody>
      </p:sp>
      <p:sp>
        <p:nvSpPr>
          <p:cNvPr id="24" name="Text 22"/>
          <p:cNvSpPr/>
          <p:nvPr/>
        </p:nvSpPr>
        <p:spPr>
          <a:xfrm>
            <a:off x="3794760" y="4069080"/>
            <a:ext cx="4846320" cy="457200"/>
          </a:xfrm>
          <a:prstGeom prst="rect">
            <a:avLst/>
          </a:prstGeom>
          <a:noFill/>
          <a:ln/>
        </p:spPr>
        <p:txBody>
          <a:bodyPr wrap="square" lIns="0" tIns="0" rIns="0" bIns="0" rtlCol="0" anchor="ctr"/>
          <a:lstStyle/>
          <a:p>
            <a:pPr marL="0" indent="0">
              <a:buNone/>
            </a:pPr>
            <a:r>
              <a:rPr lang="en-US" sz="1100" dirty="0">
                <a:solidFill>
                  <a:srgbClr val="1B1B1E"/>
                </a:solidFill>
                <a:latin typeface="Calibri" pitchFamily="34" charset="0"/>
                <a:ea typeface="Calibri" pitchFamily="34" charset="-122"/>
                <a:cs typeface="Calibri" pitchFamily="34" charset="-120"/>
              </a:rPr>
              <a:t>Engineers documented MCAS risks internally — but the information never reached pilots or regulators. Communication is part of the engineering work.</a:t>
            </a:r>
            <a:endParaRPr lang="en-US" sz="1100" dirty="0"/>
          </a:p>
        </p:txBody>
      </p:sp>
      <p:sp>
        <p:nvSpPr>
          <p:cNvPr id="25" name="Text 23"/>
          <p:cNvSpPr/>
          <p:nvPr/>
        </p:nvSpPr>
        <p:spPr>
          <a:xfrm>
            <a:off x="457200" y="4846320"/>
            <a:ext cx="5486400" cy="228600"/>
          </a:xfrm>
          <a:prstGeom prst="rect">
            <a:avLst/>
          </a:prstGeom>
          <a:noFill/>
          <a:ln/>
        </p:spPr>
        <p:txBody>
          <a:bodyPr wrap="square" lIns="0" tIns="0" rIns="0" bIns="0" rtlCol="0" anchor="ctr"/>
          <a:lstStyle/>
          <a:p>
            <a:pPr marL="0" indent="0">
              <a:buNone/>
            </a:pPr>
            <a:r>
              <a:rPr lang="en-US" sz="900" dirty="0">
                <a:solidFill>
                  <a:srgbClr val="5C6B7A"/>
                </a:solidFill>
                <a:latin typeface="Calibri" pitchFamily="34" charset="0"/>
                <a:ea typeface="Calibri" pitchFamily="34" charset="-122"/>
                <a:cs typeface="Calibri" pitchFamily="34" charset="-120"/>
              </a:rPr>
              <a:t>Boeing 737 MAX  |  Engineering Ethics Case Study</a:t>
            </a:r>
            <a:endParaRPr lang="en-US" sz="900" dirty="0"/>
          </a:p>
        </p:txBody>
      </p:sp>
      <p:sp>
        <p:nvSpPr>
          <p:cNvPr id="26" name="Text 24"/>
          <p:cNvSpPr/>
          <p:nvPr/>
        </p:nvSpPr>
        <p:spPr>
          <a:xfrm>
            <a:off x="8229600" y="4846320"/>
            <a:ext cx="457200" cy="228600"/>
          </a:xfrm>
          <a:prstGeom prst="rect">
            <a:avLst/>
          </a:prstGeom>
          <a:noFill/>
          <a:ln/>
        </p:spPr>
        <p:txBody>
          <a:bodyPr wrap="square" lIns="0" tIns="0" rIns="0" bIns="0" rtlCol="0" anchor="ctr"/>
          <a:lstStyle/>
          <a:p>
            <a:pPr marL="0" indent="0" algn="r">
              <a:buNone/>
            </a:pPr>
            <a:r>
              <a:rPr lang="en-US" sz="900" dirty="0">
                <a:solidFill>
                  <a:srgbClr val="5C6B7A"/>
                </a:solidFill>
                <a:latin typeface="Calibri" pitchFamily="34" charset="0"/>
                <a:ea typeface="Calibri" pitchFamily="34" charset="-122"/>
                <a:cs typeface="Calibri" pitchFamily="34" charset="-120"/>
              </a:rPr>
              <a:t>8</a:t>
            </a:r>
            <a:endParaRPr lang="en-US" sz="900" dirty="0"/>
          </a:p>
        </p:txBody>
      </p:sp>
    </p:spTree>
    <p:extLst>
      <p:ext uri="{BB962C8B-B14F-4D97-AF65-F5344CB8AC3E}">
        <p14:creationId xmlns:p14="http://schemas.microsoft.com/office/powerpoint/2010/main" val="16332204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EF4ED"/>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228600"/>
          </a:xfrm>
          <a:prstGeom prst="rect">
            <a:avLst/>
          </a:prstGeom>
          <a:noFill/>
          <a:ln/>
        </p:spPr>
        <p:txBody>
          <a:bodyPr wrap="square" lIns="0" tIns="0" rIns="0" bIns="0" rtlCol="0" anchor="ctr"/>
          <a:lstStyle/>
          <a:p>
            <a:pPr marL="0" indent="0">
              <a:buNone/>
            </a:pPr>
            <a:r>
              <a:rPr lang="en-US" sz="1100" b="1" kern="0" spc="400" dirty="0">
                <a:solidFill>
                  <a:srgbClr val="F4A300"/>
                </a:solidFill>
                <a:latin typeface="Calibri" pitchFamily="34" charset="0"/>
                <a:ea typeface="Calibri" pitchFamily="34" charset="-122"/>
                <a:cs typeface="Calibri" pitchFamily="34" charset="-120"/>
              </a:rPr>
              <a:t>CONSEQUENCES</a:t>
            </a:r>
            <a:endParaRPr lang="en-US" sz="1100" dirty="0"/>
          </a:p>
        </p:txBody>
      </p:sp>
      <p:sp>
        <p:nvSpPr>
          <p:cNvPr id="3" name="Text 1"/>
          <p:cNvSpPr/>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0B2545"/>
                </a:solidFill>
                <a:latin typeface="Georgia" pitchFamily="34" charset="0"/>
                <a:ea typeface="Georgia" pitchFamily="34" charset="-122"/>
                <a:cs typeface="Georgia" pitchFamily="34" charset="-120"/>
              </a:rPr>
              <a:t>Aftermath &amp; assessment</a:t>
            </a:r>
            <a:endParaRPr lang="en-US" sz="2800" dirty="0"/>
          </a:p>
        </p:txBody>
      </p:sp>
      <p:sp>
        <p:nvSpPr>
          <p:cNvPr id="4" name="Shape 2"/>
          <p:cNvSpPr/>
          <p:nvPr/>
        </p:nvSpPr>
        <p:spPr>
          <a:xfrm>
            <a:off x="457200" y="1234440"/>
            <a:ext cx="2697480" cy="1188720"/>
          </a:xfrm>
          <a:prstGeom prst="rect">
            <a:avLst/>
          </a:prstGeom>
          <a:solidFill>
            <a:srgbClr val="FFFFFF"/>
          </a:solidFill>
          <a:ln w="9525">
            <a:solidFill>
              <a:srgbClr val="D6DCE4"/>
            </a:solidFill>
            <a:prstDash val="solid"/>
          </a:ln>
          <a:effectLst>
            <a:outerShdw blurRad="76200" dist="25400" dir="5400000" algn="bl" rotWithShape="0">
              <a:srgbClr val="000000">
                <a:alpha val="6000"/>
              </a:srgbClr>
            </a:outerShdw>
          </a:effectLst>
        </p:spPr>
        <p:txBody>
          <a:bodyPr/>
          <a:lstStyle/>
          <a:p>
            <a:endParaRPr lang="en-US"/>
          </a:p>
        </p:txBody>
      </p:sp>
      <p:sp>
        <p:nvSpPr>
          <p:cNvPr id="5" name="Text 3"/>
          <p:cNvSpPr/>
          <p:nvPr/>
        </p:nvSpPr>
        <p:spPr>
          <a:xfrm>
            <a:off x="457200" y="1325880"/>
            <a:ext cx="2697480" cy="685800"/>
          </a:xfrm>
          <a:prstGeom prst="rect">
            <a:avLst/>
          </a:prstGeom>
          <a:noFill/>
          <a:ln/>
        </p:spPr>
        <p:txBody>
          <a:bodyPr wrap="square" lIns="0" tIns="0" rIns="0" bIns="0" rtlCol="0" anchor="ctr"/>
          <a:lstStyle/>
          <a:p>
            <a:pPr marL="0" indent="0" algn="ctr">
              <a:buNone/>
            </a:pPr>
            <a:r>
              <a:rPr lang="en-US" sz="4400" b="1" dirty="0">
                <a:solidFill>
                  <a:srgbClr val="C1272D"/>
                </a:solidFill>
                <a:latin typeface="Georgia" pitchFamily="34" charset="0"/>
                <a:ea typeface="Georgia" pitchFamily="34" charset="-122"/>
                <a:cs typeface="Georgia" pitchFamily="34" charset="-120"/>
              </a:rPr>
              <a:t>346</a:t>
            </a:r>
            <a:endParaRPr lang="en-US" sz="4400" dirty="0"/>
          </a:p>
        </p:txBody>
      </p:sp>
      <p:sp>
        <p:nvSpPr>
          <p:cNvPr id="6" name="Text 4"/>
          <p:cNvSpPr/>
          <p:nvPr/>
        </p:nvSpPr>
        <p:spPr>
          <a:xfrm>
            <a:off x="457200" y="2011680"/>
            <a:ext cx="2697480" cy="320040"/>
          </a:xfrm>
          <a:prstGeom prst="rect">
            <a:avLst/>
          </a:prstGeom>
          <a:noFill/>
          <a:ln/>
        </p:spPr>
        <p:txBody>
          <a:bodyPr wrap="square" lIns="0" tIns="0" rIns="0" bIns="0" rtlCol="0" anchor="ctr"/>
          <a:lstStyle/>
          <a:p>
            <a:pPr marL="0" indent="0" algn="ctr">
              <a:buNone/>
            </a:pPr>
            <a:r>
              <a:rPr lang="en-US" sz="1200" i="1" dirty="0">
                <a:solidFill>
                  <a:srgbClr val="5C6B7A"/>
                </a:solidFill>
                <a:latin typeface="Calibri" pitchFamily="34" charset="0"/>
                <a:ea typeface="Calibri" pitchFamily="34" charset="-122"/>
                <a:cs typeface="Calibri" pitchFamily="34" charset="-120"/>
              </a:rPr>
              <a:t>lives lost</a:t>
            </a:r>
            <a:endParaRPr lang="en-US" sz="1200" dirty="0"/>
          </a:p>
        </p:txBody>
      </p:sp>
      <p:sp>
        <p:nvSpPr>
          <p:cNvPr id="7" name="Shape 5"/>
          <p:cNvSpPr/>
          <p:nvPr/>
        </p:nvSpPr>
        <p:spPr>
          <a:xfrm>
            <a:off x="3291840" y="1234440"/>
            <a:ext cx="2697480" cy="1188720"/>
          </a:xfrm>
          <a:prstGeom prst="rect">
            <a:avLst/>
          </a:prstGeom>
          <a:solidFill>
            <a:srgbClr val="FFFFFF"/>
          </a:solidFill>
          <a:ln w="9525">
            <a:solidFill>
              <a:srgbClr val="D6DCE4"/>
            </a:solidFill>
            <a:prstDash val="solid"/>
          </a:ln>
          <a:effectLst>
            <a:outerShdw blurRad="76200" dist="25400" dir="5400000" algn="bl" rotWithShape="0">
              <a:srgbClr val="000000">
                <a:alpha val="6000"/>
              </a:srgbClr>
            </a:outerShdw>
          </a:effectLst>
        </p:spPr>
        <p:txBody>
          <a:bodyPr/>
          <a:lstStyle/>
          <a:p>
            <a:endParaRPr lang="en-US"/>
          </a:p>
        </p:txBody>
      </p:sp>
      <p:sp>
        <p:nvSpPr>
          <p:cNvPr id="8" name="Text 6"/>
          <p:cNvSpPr/>
          <p:nvPr/>
        </p:nvSpPr>
        <p:spPr>
          <a:xfrm>
            <a:off x="3291840" y="1325880"/>
            <a:ext cx="2697480" cy="685800"/>
          </a:xfrm>
          <a:prstGeom prst="rect">
            <a:avLst/>
          </a:prstGeom>
          <a:noFill/>
          <a:ln/>
        </p:spPr>
        <p:txBody>
          <a:bodyPr wrap="square" lIns="0" tIns="0" rIns="0" bIns="0" rtlCol="0" anchor="ctr"/>
          <a:lstStyle/>
          <a:p>
            <a:pPr marL="0" indent="0" algn="ctr">
              <a:buNone/>
            </a:pPr>
            <a:r>
              <a:rPr lang="en-US" sz="4400" b="1" dirty="0">
                <a:solidFill>
                  <a:srgbClr val="0B2545"/>
                </a:solidFill>
                <a:latin typeface="Georgia" pitchFamily="34" charset="0"/>
                <a:ea typeface="Georgia" pitchFamily="34" charset="-122"/>
                <a:cs typeface="Georgia" pitchFamily="34" charset="-120"/>
              </a:rPr>
              <a:t>20 mo.</a:t>
            </a:r>
            <a:endParaRPr lang="en-US" sz="4400" dirty="0"/>
          </a:p>
        </p:txBody>
      </p:sp>
      <p:sp>
        <p:nvSpPr>
          <p:cNvPr id="9" name="Text 7"/>
          <p:cNvSpPr/>
          <p:nvPr/>
        </p:nvSpPr>
        <p:spPr>
          <a:xfrm>
            <a:off x="3291840" y="2011680"/>
            <a:ext cx="2697480" cy="320040"/>
          </a:xfrm>
          <a:prstGeom prst="rect">
            <a:avLst/>
          </a:prstGeom>
          <a:noFill/>
          <a:ln/>
        </p:spPr>
        <p:txBody>
          <a:bodyPr wrap="square" lIns="0" tIns="0" rIns="0" bIns="0" rtlCol="0" anchor="ctr"/>
          <a:lstStyle/>
          <a:p>
            <a:pPr marL="0" indent="0" algn="ctr">
              <a:buNone/>
            </a:pPr>
            <a:r>
              <a:rPr lang="en-US" sz="1200" i="1" dirty="0">
                <a:solidFill>
                  <a:srgbClr val="5C6B7A"/>
                </a:solidFill>
                <a:latin typeface="Calibri" pitchFamily="34" charset="0"/>
                <a:ea typeface="Calibri" pitchFamily="34" charset="-122"/>
                <a:cs typeface="Calibri" pitchFamily="34" charset="-120"/>
              </a:rPr>
              <a:t>global fleet grounding</a:t>
            </a:r>
            <a:endParaRPr lang="en-US" sz="1200" dirty="0"/>
          </a:p>
        </p:txBody>
      </p:sp>
      <p:sp>
        <p:nvSpPr>
          <p:cNvPr id="10" name="Shape 8"/>
          <p:cNvSpPr/>
          <p:nvPr/>
        </p:nvSpPr>
        <p:spPr>
          <a:xfrm>
            <a:off x="6126480" y="1234440"/>
            <a:ext cx="2697480" cy="1188720"/>
          </a:xfrm>
          <a:prstGeom prst="rect">
            <a:avLst/>
          </a:prstGeom>
          <a:solidFill>
            <a:srgbClr val="FFFFFF"/>
          </a:solidFill>
          <a:ln w="9525">
            <a:solidFill>
              <a:srgbClr val="D6DCE4"/>
            </a:solidFill>
            <a:prstDash val="solid"/>
          </a:ln>
          <a:effectLst>
            <a:outerShdw blurRad="76200" dist="25400" dir="5400000" algn="bl" rotWithShape="0">
              <a:srgbClr val="000000">
                <a:alpha val="6000"/>
              </a:srgbClr>
            </a:outerShdw>
          </a:effectLst>
        </p:spPr>
        <p:txBody>
          <a:bodyPr/>
          <a:lstStyle/>
          <a:p>
            <a:endParaRPr lang="en-US"/>
          </a:p>
        </p:txBody>
      </p:sp>
      <p:sp>
        <p:nvSpPr>
          <p:cNvPr id="11" name="Text 9"/>
          <p:cNvSpPr/>
          <p:nvPr/>
        </p:nvSpPr>
        <p:spPr>
          <a:xfrm>
            <a:off x="6126480" y="1325880"/>
            <a:ext cx="2697480" cy="685800"/>
          </a:xfrm>
          <a:prstGeom prst="rect">
            <a:avLst/>
          </a:prstGeom>
          <a:noFill/>
          <a:ln/>
        </p:spPr>
        <p:txBody>
          <a:bodyPr wrap="square" lIns="0" tIns="0" rIns="0" bIns="0" rtlCol="0" anchor="ctr"/>
          <a:lstStyle/>
          <a:p>
            <a:pPr marL="0" indent="0" algn="ctr">
              <a:buNone/>
            </a:pPr>
            <a:r>
              <a:rPr lang="en-US" sz="4400" b="1" dirty="0">
                <a:solidFill>
                  <a:srgbClr val="0B2545"/>
                </a:solidFill>
                <a:latin typeface="Georgia" pitchFamily="34" charset="0"/>
                <a:ea typeface="Georgia" pitchFamily="34" charset="-122"/>
                <a:cs typeface="Georgia" pitchFamily="34" charset="-120"/>
              </a:rPr>
              <a:t>$2.5B+</a:t>
            </a:r>
            <a:endParaRPr lang="en-US" sz="4400" dirty="0"/>
          </a:p>
        </p:txBody>
      </p:sp>
      <p:sp>
        <p:nvSpPr>
          <p:cNvPr id="12" name="Text 10"/>
          <p:cNvSpPr/>
          <p:nvPr/>
        </p:nvSpPr>
        <p:spPr>
          <a:xfrm>
            <a:off x="6126480" y="2011680"/>
            <a:ext cx="2697480" cy="320040"/>
          </a:xfrm>
          <a:prstGeom prst="rect">
            <a:avLst/>
          </a:prstGeom>
          <a:noFill/>
          <a:ln/>
        </p:spPr>
        <p:txBody>
          <a:bodyPr wrap="square" lIns="0" tIns="0" rIns="0" bIns="0" rtlCol="0" anchor="ctr"/>
          <a:lstStyle/>
          <a:p>
            <a:pPr marL="0" indent="0" algn="ctr">
              <a:buNone/>
            </a:pPr>
            <a:r>
              <a:rPr lang="en-US" sz="1200" i="1" dirty="0">
                <a:solidFill>
                  <a:srgbClr val="5C6B7A"/>
                </a:solidFill>
                <a:latin typeface="Calibri" pitchFamily="34" charset="0"/>
                <a:ea typeface="Calibri" pitchFamily="34" charset="-122"/>
                <a:cs typeface="Calibri" pitchFamily="34" charset="-120"/>
              </a:rPr>
              <a:t>DOJ settlements &amp; fines</a:t>
            </a:r>
            <a:endParaRPr lang="en-US" sz="1200" dirty="0"/>
          </a:p>
        </p:txBody>
      </p:sp>
      <p:sp>
        <p:nvSpPr>
          <p:cNvPr id="13" name="Shape 11"/>
          <p:cNvSpPr/>
          <p:nvPr/>
        </p:nvSpPr>
        <p:spPr>
          <a:xfrm>
            <a:off x="457200" y="2606040"/>
            <a:ext cx="8229600" cy="2011680"/>
          </a:xfrm>
          <a:prstGeom prst="rect">
            <a:avLst/>
          </a:prstGeom>
          <a:solidFill>
            <a:srgbClr val="0B2545"/>
          </a:solidFill>
          <a:ln w="12700">
            <a:solidFill>
              <a:srgbClr val="0B2545"/>
            </a:solidFill>
            <a:prstDash val="solid"/>
          </a:ln>
        </p:spPr>
        <p:txBody>
          <a:bodyPr/>
          <a:lstStyle/>
          <a:p>
            <a:endParaRPr lang="en-US"/>
          </a:p>
        </p:txBody>
      </p:sp>
      <p:sp>
        <p:nvSpPr>
          <p:cNvPr id="14" name="Shape 12"/>
          <p:cNvSpPr/>
          <p:nvPr/>
        </p:nvSpPr>
        <p:spPr>
          <a:xfrm>
            <a:off x="457200" y="2606040"/>
            <a:ext cx="91440" cy="2011680"/>
          </a:xfrm>
          <a:prstGeom prst="rect">
            <a:avLst/>
          </a:prstGeom>
          <a:solidFill>
            <a:srgbClr val="F4A300"/>
          </a:solidFill>
          <a:ln w="12700">
            <a:solidFill>
              <a:srgbClr val="F4A300"/>
            </a:solidFill>
            <a:prstDash val="solid"/>
          </a:ln>
        </p:spPr>
        <p:txBody>
          <a:bodyPr/>
          <a:lstStyle/>
          <a:p>
            <a:endParaRPr lang="en-US"/>
          </a:p>
        </p:txBody>
      </p:sp>
      <p:sp>
        <p:nvSpPr>
          <p:cNvPr id="15" name="Text 13"/>
          <p:cNvSpPr/>
          <p:nvPr/>
        </p:nvSpPr>
        <p:spPr>
          <a:xfrm>
            <a:off x="731520" y="2743200"/>
            <a:ext cx="7772400" cy="274320"/>
          </a:xfrm>
          <a:prstGeom prst="rect">
            <a:avLst/>
          </a:prstGeom>
          <a:noFill/>
          <a:ln/>
        </p:spPr>
        <p:txBody>
          <a:bodyPr wrap="square" lIns="0" tIns="0" rIns="0" bIns="0" rtlCol="0" anchor="ctr"/>
          <a:lstStyle/>
          <a:p>
            <a:pPr marL="0" indent="0">
              <a:buNone/>
            </a:pPr>
            <a:r>
              <a:rPr lang="en-US" sz="1100" b="1" kern="0" spc="400" dirty="0">
                <a:solidFill>
                  <a:srgbClr val="F4A300"/>
                </a:solidFill>
                <a:latin typeface="Calibri" pitchFamily="34" charset="0"/>
                <a:ea typeface="Calibri" pitchFamily="34" charset="-122"/>
                <a:cs typeface="Calibri" pitchFamily="34" charset="-120"/>
              </a:rPr>
              <a:t>OUR ASSESSMENT</a:t>
            </a:r>
            <a:endParaRPr lang="en-US" sz="1100" dirty="0"/>
          </a:p>
        </p:txBody>
      </p:sp>
      <p:sp>
        <p:nvSpPr>
          <p:cNvPr id="16" name="Text 14"/>
          <p:cNvSpPr/>
          <p:nvPr/>
        </p:nvSpPr>
        <p:spPr>
          <a:xfrm>
            <a:off x="731520" y="3035808"/>
            <a:ext cx="7772400" cy="86868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Boeing's decisions were not the result of a single bad actor. They were the predictable output of a system that rewarded speed over safety, treated software as a place to hide hardware compromises, and let the regulated party shape the regulator's scope.</a:t>
            </a:r>
            <a:endParaRPr lang="en-US" sz="1300" dirty="0"/>
          </a:p>
        </p:txBody>
      </p:sp>
      <p:sp>
        <p:nvSpPr>
          <p:cNvPr id="17" name="Text 15"/>
          <p:cNvSpPr/>
          <p:nvPr/>
        </p:nvSpPr>
        <p:spPr>
          <a:xfrm>
            <a:off x="731520" y="3931920"/>
            <a:ext cx="7772400" cy="594360"/>
          </a:xfrm>
          <a:prstGeom prst="rect">
            <a:avLst/>
          </a:prstGeom>
          <a:noFill/>
          <a:ln/>
        </p:spPr>
        <p:txBody>
          <a:bodyPr wrap="square" lIns="0" tIns="0" rIns="0" bIns="0" rtlCol="0" anchor="ctr"/>
          <a:lstStyle/>
          <a:p>
            <a:pPr marL="0" indent="0">
              <a:buNone/>
            </a:pPr>
            <a:r>
              <a:rPr lang="en-US" sz="1200" i="1" dirty="0">
                <a:solidFill>
                  <a:srgbClr val="8DA9C4"/>
                </a:solidFill>
                <a:latin typeface="Calibri" pitchFamily="34" charset="0"/>
                <a:ea typeface="Calibri" pitchFamily="34" charset="-122"/>
                <a:cs typeface="Calibri" pitchFamily="34" charset="-120"/>
              </a:rPr>
              <a:t>In 2024 Boeing agreed to plead guilty to conspiracy to defraud the FAA — but the deeper lesson for engineers is that ethics is not a final-stage compliance check. It's a load-bearing element of every design decision we make.</a:t>
            </a:r>
            <a:endParaRPr lang="en-US" sz="1200" dirty="0"/>
          </a:p>
        </p:txBody>
      </p:sp>
      <p:sp>
        <p:nvSpPr>
          <p:cNvPr id="18" name="Text 16"/>
          <p:cNvSpPr/>
          <p:nvPr/>
        </p:nvSpPr>
        <p:spPr>
          <a:xfrm>
            <a:off x="457200" y="4846320"/>
            <a:ext cx="5486400" cy="228600"/>
          </a:xfrm>
          <a:prstGeom prst="rect">
            <a:avLst/>
          </a:prstGeom>
          <a:noFill/>
          <a:ln/>
        </p:spPr>
        <p:txBody>
          <a:bodyPr wrap="square" lIns="0" tIns="0" rIns="0" bIns="0" rtlCol="0" anchor="ctr"/>
          <a:lstStyle/>
          <a:p>
            <a:pPr marL="0" indent="0">
              <a:buNone/>
            </a:pPr>
            <a:r>
              <a:rPr lang="en-US" sz="900" dirty="0">
                <a:solidFill>
                  <a:srgbClr val="5C6B7A"/>
                </a:solidFill>
                <a:latin typeface="Calibri" pitchFamily="34" charset="0"/>
                <a:ea typeface="Calibri" pitchFamily="34" charset="-122"/>
                <a:cs typeface="Calibri" pitchFamily="34" charset="-120"/>
              </a:rPr>
              <a:t>Boeing 737 MAX  |  Engineering Ethics Case Study</a:t>
            </a:r>
            <a:endParaRPr lang="en-US" sz="900" dirty="0"/>
          </a:p>
        </p:txBody>
      </p:sp>
      <p:sp>
        <p:nvSpPr>
          <p:cNvPr id="19" name="Text 17"/>
          <p:cNvSpPr/>
          <p:nvPr/>
        </p:nvSpPr>
        <p:spPr>
          <a:xfrm>
            <a:off x="8229600" y="4846320"/>
            <a:ext cx="457200" cy="228600"/>
          </a:xfrm>
          <a:prstGeom prst="rect">
            <a:avLst/>
          </a:prstGeom>
          <a:noFill/>
          <a:ln/>
        </p:spPr>
        <p:txBody>
          <a:bodyPr wrap="square" lIns="0" tIns="0" rIns="0" bIns="0" rtlCol="0" anchor="ctr"/>
          <a:lstStyle/>
          <a:p>
            <a:pPr marL="0" indent="0" algn="r">
              <a:buNone/>
            </a:pPr>
            <a:r>
              <a:rPr lang="en-US" sz="900" dirty="0">
                <a:solidFill>
                  <a:srgbClr val="5C6B7A"/>
                </a:solidFill>
                <a:latin typeface="Calibri" pitchFamily="34" charset="0"/>
                <a:ea typeface="Calibri" pitchFamily="34" charset="-122"/>
                <a:cs typeface="Calibri" pitchFamily="34" charset="-120"/>
              </a:rPr>
              <a:t>9</a:t>
            </a:r>
            <a:endParaRPr lang="en-US" sz="900" dirty="0"/>
          </a:p>
        </p:txBody>
      </p:sp>
    </p:spTree>
    <p:extLst>
      <p:ext uri="{BB962C8B-B14F-4D97-AF65-F5344CB8AC3E}">
        <p14:creationId xmlns:p14="http://schemas.microsoft.com/office/powerpoint/2010/main" val="33057738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6182E"/>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F4A300"/>
          </a:solidFill>
          <a:ln w="12700">
            <a:solidFill>
              <a:srgbClr val="F4A300"/>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731520" y="640080"/>
            <a:ext cx="502920" cy="502920"/>
          </a:xfrm>
          <a:prstGeom prst="rect">
            <a:avLst/>
          </a:prstGeom>
        </p:spPr>
      </p:pic>
      <p:sp>
        <p:nvSpPr>
          <p:cNvPr id="4" name="Text 1"/>
          <p:cNvSpPr/>
          <p:nvPr/>
        </p:nvSpPr>
        <p:spPr>
          <a:xfrm>
            <a:off x="731520" y="1325880"/>
            <a:ext cx="7315200" cy="320040"/>
          </a:xfrm>
          <a:prstGeom prst="rect">
            <a:avLst/>
          </a:prstGeom>
          <a:noFill/>
          <a:ln/>
        </p:spPr>
        <p:txBody>
          <a:bodyPr wrap="square" lIns="0" tIns="0" rIns="0" bIns="0" rtlCol="0" anchor="ctr"/>
          <a:lstStyle/>
          <a:p>
            <a:pPr marL="0" indent="0">
              <a:buNone/>
            </a:pPr>
            <a:r>
              <a:rPr lang="en-US" sz="1300" b="1" kern="0" spc="600" dirty="0">
                <a:solidFill>
                  <a:srgbClr val="F4A300"/>
                </a:solidFill>
                <a:latin typeface="Calibri" pitchFamily="34" charset="0"/>
                <a:ea typeface="Calibri" pitchFamily="34" charset="-122"/>
                <a:cs typeface="Calibri" pitchFamily="34" charset="-120"/>
              </a:rPr>
              <a:t>KEY TAKEAWAYS</a:t>
            </a:r>
            <a:endParaRPr lang="en-US" sz="1300" dirty="0"/>
          </a:p>
        </p:txBody>
      </p:sp>
      <p:sp>
        <p:nvSpPr>
          <p:cNvPr id="5" name="Text 2"/>
          <p:cNvSpPr/>
          <p:nvPr/>
        </p:nvSpPr>
        <p:spPr>
          <a:xfrm>
            <a:off x="731520" y="1691640"/>
            <a:ext cx="7955280" cy="640080"/>
          </a:xfrm>
          <a:prstGeom prst="rect">
            <a:avLst/>
          </a:prstGeom>
          <a:noFill/>
          <a:ln/>
        </p:spPr>
        <p:txBody>
          <a:bodyPr wrap="square" lIns="0" tIns="0" rIns="0" bIns="0" rtlCol="0" anchor="ctr"/>
          <a:lstStyle/>
          <a:p>
            <a:pPr marL="0" indent="0">
              <a:buNone/>
            </a:pPr>
            <a:r>
              <a:rPr lang="en-US" sz="3600" b="1" i="1" dirty="0">
                <a:solidFill>
                  <a:srgbClr val="FFFFFF"/>
                </a:solidFill>
                <a:latin typeface="Georgia" pitchFamily="34" charset="0"/>
                <a:ea typeface="Georgia" pitchFamily="34" charset="-122"/>
                <a:cs typeface="Georgia" pitchFamily="34" charset="-120"/>
              </a:rPr>
              <a:t>Engineering ethics is engineering.</a:t>
            </a:r>
            <a:endParaRPr lang="en-US" sz="3600" dirty="0"/>
          </a:p>
        </p:txBody>
      </p:sp>
      <p:sp>
        <p:nvSpPr>
          <p:cNvPr id="6" name="Shape 3"/>
          <p:cNvSpPr/>
          <p:nvPr/>
        </p:nvSpPr>
        <p:spPr>
          <a:xfrm>
            <a:off x="731520" y="2697480"/>
            <a:ext cx="164592" cy="164592"/>
          </a:xfrm>
          <a:prstGeom prst="ellipse">
            <a:avLst/>
          </a:prstGeom>
          <a:solidFill>
            <a:srgbClr val="F4A300"/>
          </a:solidFill>
          <a:ln w="12700">
            <a:solidFill>
              <a:srgbClr val="F4A300"/>
            </a:solidFill>
            <a:prstDash val="solid"/>
          </a:ln>
        </p:spPr>
        <p:txBody>
          <a:bodyPr/>
          <a:lstStyle/>
          <a:p>
            <a:endParaRPr lang="en-US"/>
          </a:p>
        </p:txBody>
      </p:sp>
      <p:sp>
        <p:nvSpPr>
          <p:cNvPr id="7" name="Text 4"/>
          <p:cNvSpPr/>
          <p:nvPr/>
        </p:nvSpPr>
        <p:spPr>
          <a:xfrm>
            <a:off x="1051560" y="2606040"/>
            <a:ext cx="7589520" cy="411480"/>
          </a:xfrm>
          <a:prstGeom prst="rect">
            <a:avLst/>
          </a:prstGeom>
          <a:noFill/>
          <a:ln/>
        </p:spPr>
        <p:txBody>
          <a:bodyPr wrap="square" lIns="0" tIns="0" rIns="0" bIns="0" rtlCol="0" anchor="ctr"/>
          <a:lstStyle/>
          <a:p>
            <a:pPr marL="0" indent="0">
              <a:buNone/>
            </a:pPr>
            <a:r>
              <a:rPr lang="en-US" sz="1400" dirty="0">
                <a:solidFill>
                  <a:srgbClr val="EEF4ED"/>
                </a:solidFill>
                <a:latin typeface="Calibri" pitchFamily="34" charset="0"/>
                <a:ea typeface="Calibri" pitchFamily="34" charset="-122"/>
                <a:cs typeface="Calibri" pitchFamily="34" charset="-120"/>
              </a:rPr>
              <a:t>Safety-critical systems demand sensor redundancy and fail-safe behavior — always.</a:t>
            </a:r>
            <a:endParaRPr lang="en-US" sz="1400" dirty="0"/>
          </a:p>
        </p:txBody>
      </p:sp>
      <p:sp>
        <p:nvSpPr>
          <p:cNvPr id="8" name="Shape 5"/>
          <p:cNvSpPr/>
          <p:nvPr/>
        </p:nvSpPr>
        <p:spPr>
          <a:xfrm>
            <a:off x="731520" y="3154680"/>
            <a:ext cx="164592" cy="164592"/>
          </a:xfrm>
          <a:prstGeom prst="ellipse">
            <a:avLst/>
          </a:prstGeom>
          <a:solidFill>
            <a:srgbClr val="F4A300"/>
          </a:solidFill>
          <a:ln w="12700">
            <a:solidFill>
              <a:srgbClr val="F4A300"/>
            </a:solidFill>
            <a:prstDash val="solid"/>
          </a:ln>
        </p:spPr>
        <p:txBody>
          <a:bodyPr/>
          <a:lstStyle/>
          <a:p>
            <a:endParaRPr lang="en-US"/>
          </a:p>
        </p:txBody>
      </p:sp>
      <p:sp>
        <p:nvSpPr>
          <p:cNvPr id="9" name="Text 6"/>
          <p:cNvSpPr/>
          <p:nvPr/>
        </p:nvSpPr>
        <p:spPr>
          <a:xfrm>
            <a:off x="1051560" y="3063240"/>
            <a:ext cx="7589520" cy="411480"/>
          </a:xfrm>
          <a:prstGeom prst="rect">
            <a:avLst/>
          </a:prstGeom>
          <a:noFill/>
          <a:ln/>
        </p:spPr>
        <p:txBody>
          <a:bodyPr wrap="square" lIns="0" tIns="0" rIns="0" bIns="0" rtlCol="0" anchor="ctr"/>
          <a:lstStyle/>
          <a:p>
            <a:pPr marL="0" indent="0">
              <a:buNone/>
            </a:pPr>
            <a:r>
              <a:rPr lang="en-US" sz="1400" dirty="0">
                <a:solidFill>
                  <a:srgbClr val="EEF4ED"/>
                </a:solidFill>
                <a:latin typeface="Calibri" pitchFamily="34" charset="0"/>
                <a:ea typeface="Calibri" pitchFamily="34" charset="-122"/>
                <a:cs typeface="Calibri" pitchFamily="34" charset="-120"/>
              </a:rPr>
              <a:t>If a design choice depends on hiding information from end users, that's the warning sign.</a:t>
            </a:r>
            <a:endParaRPr lang="en-US" sz="1400" dirty="0"/>
          </a:p>
        </p:txBody>
      </p:sp>
      <p:sp>
        <p:nvSpPr>
          <p:cNvPr id="10" name="Shape 7"/>
          <p:cNvSpPr/>
          <p:nvPr/>
        </p:nvSpPr>
        <p:spPr>
          <a:xfrm>
            <a:off x="731520" y="3611880"/>
            <a:ext cx="164592" cy="164592"/>
          </a:xfrm>
          <a:prstGeom prst="ellipse">
            <a:avLst/>
          </a:prstGeom>
          <a:solidFill>
            <a:srgbClr val="F4A300"/>
          </a:solidFill>
          <a:ln w="12700">
            <a:solidFill>
              <a:srgbClr val="F4A300"/>
            </a:solidFill>
            <a:prstDash val="solid"/>
          </a:ln>
        </p:spPr>
        <p:txBody>
          <a:bodyPr/>
          <a:lstStyle/>
          <a:p>
            <a:endParaRPr lang="en-US"/>
          </a:p>
        </p:txBody>
      </p:sp>
      <p:sp>
        <p:nvSpPr>
          <p:cNvPr id="11" name="Text 8"/>
          <p:cNvSpPr/>
          <p:nvPr/>
        </p:nvSpPr>
        <p:spPr>
          <a:xfrm>
            <a:off x="1051560" y="3520440"/>
            <a:ext cx="7589520" cy="411480"/>
          </a:xfrm>
          <a:prstGeom prst="rect">
            <a:avLst/>
          </a:prstGeom>
          <a:noFill/>
          <a:ln/>
        </p:spPr>
        <p:txBody>
          <a:bodyPr wrap="square" lIns="0" tIns="0" rIns="0" bIns="0" rtlCol="0" anchor="ctr"/>
          <a:lstStyle/>
          <a:p>
            <a:pPr marL="0" indent="0">
              <a:buNone/>
            </a:pPr>
            <a:r>
              <a:rPr lang="en-US" sz="1400" dirty="0">
                <a:solidFill>
                  <a:srgbClr val="EEF4ED"/>
                </a:solidFill>
                <a:latin typeface="Calibri" pitchFamily="34" charset="0"/>
                <a:ea typeface="Calibri" pitchFamily="34" charset="-122"/>
                <a:cs typeface="Calibri" pitchFamily="34" charset="-120"/>
              </a:rPr>
              <a:t>Cost, schedule, and competition are real — but they live below public safety in the priority stack.</a:t>
            </a:r>
            <a:endParaRPr lang="en-US" sz="1400" dirty="0"/>
          </a:p>
        </p:txBody>
      </p:sp>
      <p:sp>
        <p:nvSpPr>
          <p:cNvPr id="12" name="Shape 9"/>
          <p:cNvSpPr/>
          <p:nvPr/>
        </p:nvSpPr>
        <p:spPr>
          <a:xfrm>
            <a:off x="731520" y="4069080"/>
            <a:ext cx="164592" cy="164592"/>
          </a:xfrm>
          <a:prstGeom prst="ellipse">
            <a:avLst/>
          </a:prstGeom>
          <a:solidFill>
            <a:srgbClr val="F4A300"/>
          </a:solidFill>
          <a:ln w="12700">
            <a:solidFill>
              <a:srgbClr val="F4A300"/>
            </a:solidFill>
            <a:prstDash val="solid"/>
          </a:ln>
        </p:spPr>
        <p:txBody>
          <a:bodyPr/>
          <a:lstStyle/>
          <a:p>
            <a:endParaRPr lang="en-US"/>
          </a:p>
        </p:txBody>
      </p:sp>
      <p:sp>
        <p:nvSpPr>
          <p:cNvPr id="13" name="Text 10"/>
          <p:cNvSpPr/>
          <p:nvPr/>
        </p:nvSpPr>
        <p:spPr>
          <a:xfrm>
            <a:off x="1051560" y="3977640"/>
            <a:ext cx="7589520" cy="411480"/>
          </a:xfrm>
          <a:prstGeom prst="rect">
            <a:avLst/>
          </a:prstGeom>
          <a:noFill/>
          <a:ln/>
        </p:spPr>
        <p:txBody>
          <a:bodyPr wrap="square" lIns="0" tIns="0" rIns="0" bIns="0" rtlCol="0" anchor="ctr"/>
          <a:lstStyle/>
          <a:p>
            <a:pPr marL="0" indent="0">
              <a:buNone/>
            </a:pPr>
            <a:r>
              <a:rPr lang="en-US" sz="1400" dirty="0">
                <a:solidFill>
                  <a:srgbClr val="EEF4ED"/>
                </a:solidFill>
                <a:latin typeface="Calibri" pitchFamily="34" charset="0"/>
                <a:ea typeface="Calibri" pitchFamily="34" charset="-122"/>
                <a:cs typeface="Calibri" pitchFamily="34" charset="-120"/>
              </a:rPr>
              <a:t>Engineers have a duty to escalate; organizations have a duty to listen.</a:t>
            </a:r>
            <a:endParaRPr lang="en-US" sz="1400" dirty="0"/>
          </a:p>
        </p:txBody>
      </p:sp>
      <p:sp>
        <p:nvSpPr>
          <p:cNvPr id="14" name="Text 11"/>
          <p:cNvSpPr/>
          <p:nvPr/>
        </p:nvSpPr>
        <p:spPr>
          <a:xfrm>
            <a:off x="731520" y="4572000"/>
            <a:ext cx="7315200" cy="365760"/>
          </a:xfrm>
          <a:prstGeom prst="rect">
            <a:avLst/>
          </a:prstGeom>
          <a:noFill/>
          <a:ln/>
        </p:spPr>
        <p:txBody>
          <a:bodyPr wrap="square" lIns="0" tIns="0" rIns="0" bIns="0" rtlCol="0" anchor="ctr"/>
          <a:lstStyle/>
          <a:p>
            <a:pPr marL="0" indent="0">
              <a:buNone/>
            </a:pPr>
            <a:r>
              <a:rPr lang="en-US" sz="1600" b="1" i="1" dirty="0">
                <a:solidFill>
                  <a:srgbClr val="F4A300"/>
                </a:solidFill>
                <a:latin typeface="Georgia" pitchFamily="34" charset="0"/>
                <a:ea typeface="Georgia" pitchFamily="34" charset="-122"/>
                <a:cs typeface="Georgia" pitchFamily="34" charset="-120"/>
              </a:rPr>
              <a:t>Questions?</a:t>
            </a:r>
            <a:endParaRPr lang="en-US" sz="1600" dirty="0"/>
          </a:p>
        </p:txBody>
      </p:sp>
    </p:spTree>
    <p:extLst>
      <p:ext uri="{BB962C8B-B14F-4D97-AF65-F5344CB8AC3E}">
        <p14:creationId xmlns:p14="http://schemas.microsoft.com/office/powerpoint/2010/main" val="184420887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60EFF15B-C7D9-4B6B-B6B6-D75DF44D0521}">
  <we:reference id="wa200010001" version="1.0.0.1" store="en-US" storeType="OMEX"/>
  <we:alternateReferences>
    <we:reference id="wa200010001" version="1.0.0.1" store="wa200010001" storeType="OMEX"/>
  </we:alternateReferences>
  <we:properties>
    <we:property name="claude.fileId" value="&quot;f68f451e-26b2-4a4a-8196-534a5498096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808</TotalTime>
  <Words>3749</Words>
  <Application>Microsoft Office PowerPoint</Application>
  <PresentationFormat>On-screen Show (16:9)</PresentationFormat>
  <Paragraphs>273</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Boeing 737 MAX: An Engineering Ethics Case Study</dc:title>
  <dc:subject>PptxGenJS Presentation</dc:subject>
  <dc:creator>Trinity College — ENGR Lab</dc:creator>
  <cp:lastModifiedBy>Sean Balbale</cp:lastModifiedBy>
  <cp:revision>4</cp:revision>
  <dcterms:created xsi:type="dcterms:W3CDTF">2026-05-04T02:49:48Z</dcterms:created>
  <dcterms:modified xsi:type="dcterms:W3CDTF">2026-05-08T14:24:27Z</dcterms:modified>
</cp:coreProperties>
</file>